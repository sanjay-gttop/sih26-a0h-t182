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12192000"/>
  <p:notesSz cx="12192000" cy="6858000"/>
  <p:embeddedFontLst>
    <p:embeddedFont>
      <p:font typeface="Tahoma"/>
      <p:regular r:id="rId12"/>
      <p:bold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Tahoma-bold.fntdata"/><Relationship Id="rId12" Type="http://schemas.openxmlformats.org/officeDocument/2006/relationships/font" Target="fonts/Tahoma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1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2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4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5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6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title"/>
          </p:nvPr>
        </p:nvSpPr>
        <p:spPr>
          <a:xfrm>
            <a:off x="1470438" y="114177"/>
            <a:ext cx="8095851" cy="8975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" type="body"/>
          </p:nvPr>
        </p:nvSpPr>
        <p:spPr>
          <a:xfrm>
            <a:off x="735947" y="2544828"/>
            <a:ext cx="10066655" cy="2529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1" type="ftr"/>
          </p:nvPr>
        </p:nvSpPr>
        <p:spPr>
          <a:xfrm>
            <a:off x="5325384" y="6399265"/>
            <a:ext cx="1850390" cy="2514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11380241" y="6399265"/>
            <a:ext cx="167640" cy="2514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>
              <a:lnSpc>
                <a:spcPct val="100000"/>
              </a:lnSpc>
              <a:spcBef>
                <a:spcPts val="0"/>
              </a:spcBef>
              <a:buNone/>
              <a:defRPr b="1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38100">
              <a:lnSpc>
                <a:spcPct val="100000"/>
              </a:lnSpc>
              <a:spcBef>
                <a:spcPts val="0"/>
              </a:spcBef>
              <a:buNone/>
              <a:defRPr b="1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38100">
              <a:lnSpc>
                <a:spcPct val="100000"/>
              </a:lnSpc>
              <a:spcBef>
                <a:spcPts val="0"/>
              </a:spcBef>
              <a:buNone/>
              <a:defRPr b="1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38100">
              <a:lnSpc>
                <a:spcPct val="100000"/>
              </a:lnSpc>
              <a:spcBef>
                <a:spcPts val="0"/>
              </a:spcBef>
              <a:buNone/>
              <a:defRPr b="1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38100">
              <a:lnSpc>
                <a:spcPct val="100000"/>
              </a:lnSpc>
              <a:spcBef>
                <a:spcPts val="0"/>
              </a:spcBef>
              <a:buNone/>
              <a:defRPr b="1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38100">
              <a:lnSpc>
                <a:spcPct val="100000"/>
              </a:lnSpc>
              <a:spcBef>
                <a:spcPts val="0"/>
              </a:spcBef>
              <a:buNone/>
              <a:defRPr b="1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8100">
              <a:lnSpc>
                <a:spcPct val="100000"/>
              </a:lnSpc>
              <a:spcBef>
                <a:spcPts val="0"/>
              </a:spcBef>
              <a:buNone/>
              <a:defRPr b="1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8100">
              <a:lnSpc>
                <a:spcPct val="100000"/>
              </a:lnSpc>
              <a:spcBef>
                <a:spcPts val="0"/>
              </a:spcBef>
              <a:buNone/>
              <a:defRPr b="1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8100">
              <a:lnSpc>
                <a:spcPct val="100000"/>
              </a:lnSpc>
              <a:spcBef>
                <a:spcPts val="0"/>
              </a:spcBef>
              <a:buNone/>
              <a:defRPr b="1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1470438" y="114177"/>
            <a:ext cx="8095851" cy="8975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" type="body"/>
          </p:nvPr>
        </p:nvSpPr>
        <p:spPr>
          <a:xfrm>
            <a:off x="527818" y="1739010"/>
            <a:ext cx="5269230" cy="41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2" type="body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1" type="ftr"/>
          </p:nvPr>
        </p:nvSpPr>
        <p:spPr>
          <a:xfrm>
            <a:off x="5325384" y="6399265"/>
            <a:ext cx="1850390" cy="2514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11380241" y="6399265"/>
            <a:ext cx="167640" cy="2514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>
              <a:lnSpc>
                <a:spcPct val="100000"/>
              </a:lnSpc>
              <a:spcBef>
                <a:spcPts val="0"/>
              </a:spcBef>
              <a:buNone/>
              <a:defRPr b="1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38100">
              <a:lnSpc>
                <a:spcPct val="100000"/>
              </a:lnSpc>
              <a:spcBef>
                <a:spcPts val="0"/>
              </a:spcBef>
              <a:buNone/>
              <a:defRPr b="1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38100">
              <a:lnSpc>
                <a:spcPct val="100000"/>
              </a:lnSpc>
              <a:spcBef>
                <a:spcPts val="0"/>
              </a:spcBef>
              <a:buNone/>
              <a:defRPr b="1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38100">
              <a:lnSpc>
                <a:spcPct val="100000"/>
              </a:lnSpc>
              <a:spcBef>
                <a:spcPts val="0"/>
              </a:spcBef>
              <a:buNone/>
              <a:defRPr b="1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38100">
              <a:lnSpc>
                <a:spcPct val="100000"/>
              </a:lnSpc>
              <a:spcBef>
                <a:spcPts val="0"/>
              </a:spcBef>
              <a:buNone/>
              <a:defRPr b="1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38100">
              <a:lnSpc>
                <a:spcPct val="100000"/>
              </a:lnSpc>
              <a:spcBef>
                <a:spcPts val="0"/>
              </a:spcBef>
              <a:buNone/>
              <a:defRPr b="1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8100">
              <a:lnSpc>
                <a:spcPct val="100000"/>
              </a:lnSpc>
              <a:spcBef>
                <a:spcPts val="0"/>
              </a:spcBef>
              <a:buNone/>
              <a:defRPr b="1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8100">
              <a:lnSpc>
                <a:spcPct val="100000"/>
              </a:lnSpc>
              <a:spcBef>
                <a:spcPts val="0"/>
              </a:spcBef>
              <a:buNone/>
              <a:defRPr b="1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8100">
              <a:lnSpc>
                <a:spcPct val="100000"/>
              </a:lnSpc>
              <a:spcBef>
                <a:spcPts val="0"/>
              </a:spcBef>
              <a:buNone/>
              <a:defRPr b="1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/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subTitle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1" type="ftr"/>
          </p:nvPr>
        </p:nvSpPr>
        <p:spPr>
          <a:xfrm>
            <a:off x="5325384" y="6399265"/>
            <a:ext cx="1850390" cy="2514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2" type="sldNum"/>
          </p:nvPr>
        </p:nvSpPr>
        <p:spPr>
          <a:xfrm>
            <a:off x="11380241" y="6399265"/>
            <a:ext cx="167640" cy="2514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>
              <a:lnSpc>
                <a:spcPct val="100000"/>
              </a:lnSpc>
              <a:spcBef>
                <a:spcPts val="0"/>
              </a:spcBef>
              <a:buNone/>
              <a:defRPr b="1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38100">
              <a:lnSpc>
                <a:spcPct val="100000"/>
              </a:lnSpc>
              <a:spcBef>
                <a:spcPts val="0"/>
              </a:spcBef>
              <a:buNone/>
              <a:defRPr b="1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38100">
              <a:lnSpc>
                <a:spcPct val="100000"/>
              </a:lnSpc>
              <a:spcBef>
                <a:spcPts val="0"/>
              </a:spcBef>
              <a:buNone/>
              <a:defRPr b="1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38100">
              <a:lnSpc>
                <a:spcPct val="100000"/>
              </a:lnSpc>
              <a:spcBef>
                <a:spcPts val="0"/>
              </a:spcBef>
              <a:buNone/>
              <a:defRPr b="1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38100">
              <a:lnSpc>
                <a:spcPct val="100000"/>
              </a:lnSpc>
              <a:spcBef>
                <a:spcPts val="0"/>
              </a:spcBef>
              <a:buNone/>
              <a:defRPr b="1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38100">
              <a:lnSpc>
                <a:spcPct val="100000"/>
              </a:lnSpc>
              <a:spcBef>
                <a:spcPts val="0"/>
              </a:spcBef>
              <a:buNone/>
              <a:defRPr b="1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8100">
              <a:lnSpc>
                <a:spcPct val="100000"/>
              </a:lnSpc>
              <a:spcBef>
                <a:spcPts val="0"/>
              </a:spcBef>
              <a:buNone/>
              <a:defRPr b="1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8100">
              <a:lnSpc>
                <a:spcPct val="100000"/>
              </a:lnSpc>
              <a:spcBef>
                <a:spcPts val="0"/>
              </a:spcBef>
              <a:buNone/>
              <a:defRPr b="1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8100">
              <a:lnSpc>
                <a:spcPct val="100000"/>
              </a:lnSpc>
              <a:spcBef>
                <a:spcPts val="0"/>
              </a:spcBef>
              <a:buNone/>
              <a:defRPr b="1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 txBox="1"/>
          <p:nvPr>
            <p:ph type="title"/>
          </p:nvPr>
        </p:nvSpPr>
        <p:spPr>
          <a:xfrm>
            <a:off x="1470438" y="114177"/>
            <a:ext cx="8095851" cy="8975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5325384" y="6399265"/>
            <a:ext cx="1850390" cy="2514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11380241" y="6399265"/>
            <a:ext cx="167640" cy="2514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>
              <a:lnSpc>
                <a:spcPct val="100000"/>
              </a:lnSpc>
              <a:spcBef>
                <a:spcPts val="0"/>
              </a:spcBef>
              <a:buNone/>
              <a:defRPr b="1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38100">
              <a:lnSpc>
                <a:spcPct val="100000"/>
              </a:lnSpc>
              <a:spcBef>
                <a:spcPts val="0"/>
              </a:spcBef>
              <a:buNone/>
              <a:defRPr b="1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38100">
              <a:lnSpc>
                <a:spcPct val="100000"/>
              </a:lnSpc>
              <a:spcBef>
                <a:spcPts val="0"/>
              </a:spcBef>
              <a:buNone/>
              <a:defRPr b="1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38100">
              <a:lnSpc>
                <a:spcPct val="100000"/>
              </a:lnSpc>
              <a:spcBef>
                <a:spcPts val="0"/>
              </a:spcBef>
              <a:buNone/>
              <a:defRPr b="1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38100">
              <a:lnSpc>
                <a:spcPct val="100000"/>
              </a:lnSpc>
              <a:spcBef>
                <a:spcPts val="0"/>
              </a:spcBef>
              <a:buNone/>
              <a:defRPr b="1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38100">
              <a:lnSpc>
                <a:spcPct val="100000"/>
              </a:lnSpc>
              <a:spcBef>
                <a:spcPts val="0"/>
              </a:spcBef>
              <a:buNone/>
              <a:defRPr b="1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8100">
              <a:lnSpc>
                <a:spcPct val="100000"/>
              </a:lnSpc>
              <a:spcBef>
                <a:spcPts val="0"/>
              </a:spcBef>
              <a:buNone/>
              <a:defRPr b="1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8100">
              <a:lnSpc>
                <a:spcPct val="100000"/>
              </a:lnSpc>
              <a:spcBef>
                <a:spcPts val="0"/>
              </a:spcBef>
              <a:buNone/>
              <a:defRPr b="1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8100">
              <a:lnSpc>
                <a:spcPct val="100000"/>
              </a:lnSpc>
              <a:spcBef>
                <a:spcPts val="0"/>
              </a:spcBef>
              <a:buNone/>
              <a:defRPr b="1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/>
          <p:nvPr>
            <p:ph idx="11" type="ftr"/>
          </p:nvPr>
        </p:nvSpPr>
        <p:spPr>
          <a:xfrm>
            <a:off x="5325384" y="6399265"/>
            <a:ext cx="1850390" cy="2514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2" type="sldNum"/>
          </p:nvPr>
        </p:nvSpPr>
        <p:spPr>
          <a:xfrm>
            <a:off x="11380241" y="6399265"/>
            <a:ext cx="167640" cy="2514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>
              <a:lnSpc>
                <a:spcPct val="100000"/>
              </a:lnSpc>
              <a:spcBef>
                <a:spcPts val="0"/>
              </a:spcBef>
              <a:buNone/>
              <a:defRPr b="1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38100">
              <a:lnSpc>
                <a:spcPct val="100000"/>
              </a:lnSpc>
              <a:spcBef>
                <a:spcPts val="0"/>
              </a:spcBef>
              <a:buNone/>
              <a:defRPr b="1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38100">
              <a:lnSpc>
                <a:spcPct val="100000"/>
              </a:lnSpc>
              <a:spcBef>
                <a:spcPts val="0"/>
              </a:spcBef>
              <a:buNone/>
              <a:defRPr b="1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38100">
              <a:lnSpc>
                <a:spcPct val="100000"/>
              </a:lnSpc>
              <a:spcBef>
                <a:spcPts val="0"/>
              </a:spcBef>
              <a:buNone/>
              <a:defRPr b="1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38100">
              <a:lnSpc>
                <a:spcPct val="100000"/>
              </a:lnSpc>
              <a:spcBef>
                <a:spcPts val="0"/>
              </a:spcBef>
              <a:buNone/>
              <a:defRPr b="1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38100">
              <a:lnSpc>
                <a:spcPct val="100000"/>
              </a:lnSpc>
              <a:spcBef>
                <a:spcPts val="0"/>
              </a:spcBef>
              <a:buNone/>
              <a:defRPr b="1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8100">
              <a:lnSpc>
                <a:spcPct val="100000"/>
              </a:lnSpc>
              <a:spcBef>
                <a:spcPts val="0"/>
              </a:spcBef>
              <a:buNone/>
              <a:defRPr b="1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8100">
              <a:lnSpc>
                <a:spcPct val="100000"/>
              </a:lnSpc>
              <a:spcBef>
                <a:spcPts val="0"/>
              </a:spcBef>
              <a:buNone/>
              <a:defRPr b="1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8100">
              <a:lnSpc>
                <a:spcPct val="100000"/>
              </a:lnSpc>
              <a:spcBef>
                <a:spcPts val="0"/>
              </a:spcBef>
              <a:buNone/>
              <a:defRPr b="1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6377762"/>
            <a:ext cx="12191999" cy="480237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/>
          <p:nvPr/>
        </p:nvSpPr>
        <p:spPr>
          <a:xfrm>
            <a:off x="0" y="6354762"/>
            <a:ext cx="12192000" cy="503555"/>
          </a:xfrm>
          <a:custGeom>
            <a:rect b="b" l="l" r="r" t="t"/>
            <a:pathLst>
              <a:path extrusionOk="0" h="503554" w="12192000">
                <a:moveTo>
                  <a:pt x="12191999" y="503237"/>
                </a:moveTo>
                <a:lnTo>
                  <a:pt x="0" y="503237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503237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" name="Google Shape;8;p1"/>
          <p:cNvSpPr txBox="1"/>
          <p:nvPr>
            <p:ph type="title"/>
          </p:nvPr>
        </p:nvSpPr>
        <p:spPr>
          <a:xfrm>
            <a:off x="1470438" y="114177"/>
            <a:ext cx="8095851" cy="8975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" name="Google Shape;9;p1"/>
          <p:cNvSpPr txBox="1"/>
          <p:nvPr>
            <p:ph idx="1" type="body"/>
          </p:nvPr>
        </p:nvSpPr>
        <p:spPr>
          <a:xfrm>
            <a:off x="735947" y="2544828"/>
            <a:ext cx="10066655" cy="2529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1" type="ftr"/>
          </p:nvPr>
        </p:nvSpPr>
        <p:spPr>
          <a:xfrm>
            <a:off x="5325384" y="6399265"/>
            <a:ext cx="1850390" cy="2514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11380241" y="6399265"/>
            <a:ext cx="167640" cy="2514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>
              <a:lnSpc>
                <a:spcPct val="100000"/>
              </a:lnSpc>
              <a:spcBef>
                <a:spcPts val="0"/>
              </a:spcBef>
              <a:buNone/>
              <a:defRPr b="1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38100">
              <a:lnSpc>
                <a:spcPct val="100000"/>
              </a:lnSpc>
              <a:spcBef>
                <a:spcPts val="0"/>
              </a:spcBef>
              <a:buNone/>
              <a:defRPr b="1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38100">
              <a:lnSpc>
                <a:spcPct val="100000"/>
              </a:lnSpc>
              <a:spcBef>
                <a:spcPts val="0"/>
              </a:spcBef>
              <a:buNone/>
              <a:defRPr b="1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38100">
              <a:lnSpc>
                <a:spcPct val="100000"/>
              </a:lnSpc>
              <a:spcBef>
                <a:spcPts val="0"/>
              </a:spcBef>
              <a:buNone/>
              <a:defRPr b="1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38100">
              <a:lnSpc>
                <a:spcPct val="100000"/>
              </a:lnSpc>
              <a:spcBef>
                <a:spcPts val="0"/>
              </a:spcBef>
              <a:buNone/>
              <a:defRPr b="1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38100">
              <a:lnSpc>
                <a:spcPct val="100000"/>
              </a:lnSpc>
              <a:spcBef>
                <a:spcPts val="0"/>
              </a:spcBef>
              <a:buNone/>
              <a:defRPr b="1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8100">
              <a:lnSpc>
                <a:spcPct val="100000"/>
              </a:lnSpc>
              <a:spcBef>
                <a:spcPts val="0"/>
              </a:spcBef>
              <a:buNone/>
              <a:defRPr b="1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8100">
              <a:lnSpc>
                <a:spcPct val="100000"/>
              </a:lnSpc>
              <a:spcBef>
                <a:spcPts val="0"/>
              </a:spcBef>
              <a:buNone/>
              <a:defRPr b="1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8100">
              <a:lnSpc>
                <a:spcPct val="100000"/>
              </a:lnSpc>
              <a:spcBef>
                <a:spcPts val="0"/>
              </a:spcBef>
              <a:buNone/>
              <a:defRPr b="1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Relationship Id="rId4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Relationship Id="rId4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1" Type="http://schemas.openxmlformats.org/officeDocument/2006/relationships/hyperlink" Target="https://arxiv.org/abs/1705.07874" TargetMode="External"/><Relationship Id="rId10" Type="http://schemas.openxmlformats.org/officeDocument/2006/relationships/hyperlink" Target="https://arxiv.org/abs/2103.16329" TargetMode="External"/><Relationship Id="rId13" Type="http://schemas.openxmlformats.org/officeDocument/2006/relationships/hyperlink" Target="https://attack.mitre.org/" TargetMode="External"/><Relationship Id="rId12" Type="http://schemas.openxmlformats.org/officeDocument/2006/relationships/hyperlink" Target="https://ieeexplore.ieee.org/document/10123384?signout=success" TargetMode="External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proceedings.neurips.cc/paper/2018/hash/2de5d16682c3c35007e4e92982f1a2ba-Abstract.html" TargetMode="External"/><Relationship Id="rId4" Type="http://schemas.openxmlformats.org/officeDocument/2006/relationships/hyperlink" Target="https://proceedings.neurips.cc/paper/2018/hash/2de5d16682c3c35007e4e92982f1a2ba-Abstract.html" TargetMode="External"/><Relationship Id="rId9" Type="http://schemas.openxmlformats.org/officeDocument/2006/relationships/hyperlink" Target="https://arxiv.org/abs/2202.07125" TargetMode="External"/><Relationship Id="rId15" Type="http://schemas.openxmlformats.org/officeDocument/2006/relationships/hyperlink" Target="https://nvd.nist.gov/" TargetMode="External"/><Relationship Id="rId14" Type="http://schemas.openxmlformats.org/officeDocument/2006/relationships/hyperlink" Target="https://capec.mitre.org/" TargetMode="External"/><Relationship Id="rId17" Type="http://schemas.openxmlformats.org/officeDocument/2006/relationships/hyperlink" Target="https://www.unb.ca/cic/datasets/ids-2018.html" TargetMode="External"/><Relationship Id="rId16" Type="http://schemas.openxmlformats.org/officeDocument/2006/relationships/hyperlink" Target="https://www.unb.ca/cic/datasets/ids-2018.html" TargetMode="External"/><Relationship Id="rId5" Type="http://schemas.openxmlformats.org/officeDocument/2006/relationships/hyperlink" Target="https://arxiv.org/abs/2508.18230" TargetMode="External"/><Relationship Id="rId19" Type="http://schemas.openxmlformats.org/officeDocument/2006/relationships/image" Target="../media/image4.jpg"/><Relationship Id="rId6" Type="http://schemas.openxmlformats.org/officeDocument/2006/relationships/hyperlink" Target="https://arxiv.org/abs/2603.07560" TargetMode="External"/><Relationship Id="rId18" Type="http://schemas.openxmlformats.org/officeDocument/2006/relationships/hyperlink" Target="https://www.stratosphereips.org/datasets-ctu13" TargetMode="External"/><Relationship Id="rId7" Type="http://schemas.openxmlformats.org/officeDocument/2006/relationships/hyperlink" Target="https://arxiv.org/abs/2106.07961" TargetMode="External"/><Relationship Id="rId8" Type="http://schemas.openxmlformats.org/officeDocument/2006/relationships/hyperlink" Target="https://arxiv.org/abs/2106.07961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oogle Shape;45;p7"/>
          <p:cNvGrpSpPr/>
          <p:nvPr/>
        </p:nvGrpSpPr>
        <p:grpSpPr>
          <a:xfrm>
            <a:off x="7139805" y="1226720"/>
            <a:ext cx="4638675" cy="5155565"/>
            <a:chOff x="5656780" y="851520"/>
            <a:chExt cx="4638675" cy="5155565"/>
          </a:xfrm>
        </p:grpSpPr>
        <p:sp>
          <p:nvSpPr>
            <p:cNvPr id="46" name="Google Shape;46;p7"/>
            <p:cNvSpPr/>
            <p:nvPr/>
          </p:nvSpPr>
          <p:spPr>
            <a:xfrm>
              <a:off x="5656780" y="851520"/>
              <a:ext cx="4638675" cy="5155565"/>
            </a:xfrm>
            <a:custGeom>
              <a:rect b="b" l="l" r="r" t="t"/>
              <a:pathLst>
                <a:path extrusionOk="0" h="5155565" w="4638675">
                  <a:moveTo>
                    <a:pt x="3518134" y="5154966"/>
                  </a:moveTo>
                  <a:lnTo>
                    <a:pt x="1867290" y="5154966"/>
                  </a:lnTo>
                  <a:lnTo>
                    <a:pt x="1822196" y="5150410"/>
                  </a:lnTo>
                  <a:lnTo>
                    <a:pt x="1778973" y="5137070"/>
                  </a:lnTo>
                  <a:lnTo>
                    <a:pt x="1738182" y="5115445"/>
                  </a:lnTo>
                  <a:lnTo>
                    <a:pt x="1700385" y="5086032"/>
                  </a:lnTo>
                  <a:lnTo>
                    <a:pt x="1666143" y="5049328"/>
                  </a:lnTo>
                  <a:lnTo>
                    <a:pt x="1636018" y="5005830"/>
                  </a:lnTo>
                  <a:lnTo>
                    <a:pt x="1610571" y="4956034"/>
                  </a:lnTo>
                  <a:lnTo>
                    <a:pt x="786932" y="3056698"/>
                  </a:lnTo>
                  <a:lnTo>
                    <a:pt x="769382" y="3010868"/>
                  </a:lnTo>
                  <a:lnTo>
                    <a:pt x="756847" y="2962707"/>
                  </a:lnTo>
                  <a:lnTo>
                    <a:pt x="749326" y="2912992"/>
                  </a:lnTo>
                  <a:lnTo>
                    <a:pt x="746819" y="2862500"/>
                  </a:lnTo>
                  <a:lnTo>
                    <a:pt x="749326" y="2812009"/>
                  </a:lnTo>
                  <a:lnTo>
                    <a:pt x="756847" y="2762294"/>
                  </a:lnTo>
                  <a:lnTo>
                    <a:pt x="769382" y="2714133"/>
                  </a:lnTo>
                  <a:lnTo>
                    <a:pt x="786932" y="2668303"/>
                  </a:lnTo>
                  <a:lnTo>
                    <a:pt x="1118529" y="1903633"/>
                  </a:lnTo>
                  <a:lnTo>
                    <a:pt x="1117622" y="1903126"/>
                  </a:lnTo>
                  <a:lnTo>
                    <a:pt x="1081377" y="1860398"/>
                  </a:lnTo>
                  <a:lnTo>
                    <a:pt x="726239" y="1044306"/>
                  </a:lnTo>
                  <a:lnTo>
                    <a:pt x="713605" y="1004835"/>
                  </a:lnTo>
                  <a:lnTo>
                    <a:pt x="709393" y="962751"/>
                  </a:lnTo>
                  <a:lnTo>
                    <a:pt x="713605" y="920668"/>
                  </a:lnTo>
                  <a:lnTo>
                    <a:pt x="726274" y="881116"/>
                  </a:lnTo>
                  <a:lnTo>
                    <a:pt x="1072139" y="83545"/>
                  </a:lnTo>
                  <a:lnTo>
                    <a:pt x="1092143" y="48673"/>
                  </a:lnTo>
                  <a:lnTo>
                    <a:pt x="1147312" y="5781"/>
                  </a:lnTo>
                  <a:lnTo>
                    <a:pt x="1179950" y="0"/>
                  </a:lnTo>
                  <a:lnTo>
                    <a:pt x="1873246" y="0"/>
                  </a:lnTo>
                  <a:lnTo>
                    <a:pt x="1934826" y="22378"/>
                  </a:lnTo>
                  <a:lnTo>
                    <a:pt x="1979561" y="83545"/>
                  </a:lnTo>
                  <a:lnTo>
                    <a:pt x="1990752" y="109242"/>
                  </a:lnTo>
                  <a:lnTo>
                    <a:pt x="1219285" y="109242"/>
                  </a:lnTo>
                  <a:lnTo>
                    <a:pt x="1190350" y="114368"/>
                  </a:lnTo>
                  <a:lnTo>
                    <a:pt x="1141441" y="152393"/>
                  </a:lnTo>
                  <a:lnTo>
                    <a:pt x="817057" y="890449"/>
                  </a:lnTo>
                  <a:lnTo>
                    <a:pt x="802122" y="962751"/>
                  </a:lnTo>
                  <a:lnTo>
                    <a:pt x="805856" y="1000060"/>
                  </a:lnTo>
                  <a:lnTo>
                    <a:pt x="1123707" y="1742195"/>
                  </a:lnTo>
                  <a:lnTo>
                    <a:pt x="1152198" y="1785779"/>
                  </a:lnTo>
                  <a:lnTo>
                    <a:pt x="1168694" y="1799028"/>
                  </a:lnTo>
                  <a:lnTo>
                    <a:pt x="1125080" y="1899603"/>
                  </a:lnTo>
                  <a:lnTo>
                    <a:pt x="1160404" y="1914701"/>
                  </a:lnTo>
                  <a:lnTo>
                    <a:pt x="1177013" y="1916169"/>
                  </a:lnTo>
                  <a:lnTo>
                    <a:pt x="4270920" y="1916169"/>
                  </a:lnTo>
                  <a:lnTo>
                    <a:pt x="4598492" y="2668303"/>
                  </a:lnTo>
                  <a:lnTo>
                    <a:pt x="4616041" y="2714133"/>
                  </a:lnTo>
                  <a:lnTo>
                    <a:pt x="4628576" y="2762294"/>
                  </a:lnTo>
                  <a:lnTo>
                    <a:pt x="4636097" y="2812009"/>
                  </a:lnTo>
                  <a:lnTo>
                    <a:pt x="4638605" y="2862500"/>
                  </a:lnTo>
                  <a:lnTo>
                    <a:pt x="4636097" y="2912992"/>
                  </a:lnTo>
                  <a:lnTo>
                    <a:pt x="4628576" y="2962707"/>
                  </a:lnTo>
                  <a:lnTo>
                    <a:pt x="4616041" y="3010868"/>
                  </a:lnTo>
                  <a:lnTo>
                    <a:pt x="4598492" y="3056698"/>
                  </a:lnTo>
                  <a:lnTo>
                    <a:pt x="3771288" y="4956034"/>
                  </a:lnTo>
                  <a:lnTo>
                    <a:pt x="3746974" y="5005830"/>
                  </a:lnTo>
                  <a:lnTo>
                    <a:pt x="3717358" y="5049328"/>
                  </a:lnTo>
                  <a:lnTo>
                    <a:pt x="3683251" y="5086032"/>
                  </a:lnTo>
                  <a:lnTo>
                    <a:pt x="3645464" y="5115445"/>
                  </a:lnTo>
                  <a:lnTo>
                    <a:pt x="3604809" y="5137070"/>
                  </a:lnTo>
                  <a:lnTo>
                    <a:pt x="3562095" y="5150410"/>
                  </a:lnTo>
                  <a:lnTo>
                    <a:pt x="3518134" y="5154966"/>
                  </a:lnTo>
                  <a:close/>
                </a:path>
                <a:path extrusionOk="0" h="5155565" w="4638675">
                  <a:moveTo>
                    <a:pt x="2186946" y="559719"/>
                  </a:moveTo>
                  <a:lnTo>
                    <a:pt x="2092099" y="559719"/>
                  </a:lnTo>
                  <a:lnTo>
                    <a:pt x="1928163" y="183308"/>
                  </a:lnTo>
                  <a:lnTo>
                    <a:pt x="1911009" y="152393"/>
                  </a:lnTo>
                  <a:lnTo>
                    <a:pt x="1888504" y="129082"/>
                  </a:lnTo>
                  <a:lnTo>
                    <a:pt x="1862266" y="114368"/>
                  </a:lnTo>
                  <a:lnTo>
                    <a:pt x="1833912" y="109242"/>
                  </a:lnTo>
                  <a:lnTo>
                    <a:pt x="1990752" y="109242"/>
                  </a:lnTo>
                  <a:lnTo>
                    <a:pt x="2186946" y="559719"/>
                  </a:lnTo>
                  <a:close/>
                </a:path>
                <a:path extrusionOk="0" h="5155565" w="4638675">
                  <a:moveTo>
                    <a:pt x="1830974" y="1806926"/>
                  </a:moveTo>
                  <a:lnTo>
                    <a:pt x="1216348" y="1806926"/>
                  </a:lnTo>
                  <a:lnTo>
                    <a:pt x="1208930" y="1806598"/>
                  </a:lnTo>
                  <a:lnTo>
                    <a:pt x="1201624" y="1805624"/>
                  </a:lnTo>
                  <a:lnTo>
                    <a:pt x="1194445" y="1804020"/>
                  </a:lnTo>
                  <a:lnTo>
                    <a:pt x="1187413" y="1801801"/>
                  </a:lnTo>
                  <a:lnTo>
                    <a:pt x="1167512" y="1790676"/>
                  </a:lnTo>
                  <a:lnTo>
                    <a:pt x="1610571" y="768967"/>
                  </a:lnTo>
                  <a:lnTo>
                    <a:pt x="1636018" y="719172"/>
                  </a:lnTo>
                  <a:lnTo>
                    <a:pt x="1666143" y="675674"/>
                  </a:lnTo>
                  <a:lnTo>
                    <a:pt x="1700385" y="638969"/>
                  </a:lnTo>
                  <a:lnTo>
                    <a:pt x="1738182" y="609556"/>
                  </a:lnTo>
                  <a:lnTo>
                    <a:pt x="1778973" y="587931"/>
                  </a:lnTo>
                  <a:lnTo>
                    <a:pt x="1822196" y="574591"/>
                  </a:lnTo>
                  <a:lnTo>
                    <a:pt x="1867290" y="570034"/>
                  </a:lnTo>
                  <a:lnTo>
                    <a:pt x="2097718" y="570034"/>
                  </a:lnTo>
                  <a:lnTo>
                    <a:pt x="2233203" y="881116"/>
                  </a:lnTo>
                  <a:lnTo>
                    <a:pt x="2244403" y="916110"/>
                  </a:lnTo>
                  <a:lnTo>
                    <a:pt x="2248136" y="953418"/>
                  </a:lnTo>
                  <a:lnTo>
                    <a:pt x="2244403" y="990726"/>
                  </a:lnTo>
                  <a:lnTo>
                    <a:pt x="1925225" y="1732862"/>
                  </a:lnTo>
                  <a:lnTo>
                    <a:pt x="1885567" y="1787088"/>
                  </a:lnTo>
                  <a:lnTo>
                    <a:pt x="1830974" y="1806926"/>
                  </a:lnTo>
                  <a:close/>
                </a:path>
                <a:path extrusionOk="0" h="5155565" w="4638675">
                  <a:moveTo>
                    <a:pt x="4270920" y="1916169"/>
                  </a:moveTo>
                  <a:lnTo>
                    <a:pt x="1870308" y="1916169"/>
                  </a:lnTo>
                  <a:lnTo>
                    <a:pt x="1902292" y="1910389"/>
                  </a:lnTo>
                  <a:lnTo>
                    <a:pt x="1931889" y="1893792"/>
                  </a:lnTo>
                  <a:lnTo>
                    <a:pt x="1976623" y="1832626"/>
                  </a:lnTo>
                  <a:lnTo>
                    <a:pt x="2324019" y="1034973"/>
                  </a:lnTo>
                  <a:lnTo>
                    <a:pt x="2336654" y="995502"/>
                  </a:lnTo>
                  <a:lnTo>
                    <a:pt x="2340865" y="953418"/>
                  </a:lnTo>
                  <a:lnTo>
                    <a:pt x="2336654" y="911335"/>
                  </a:lnTo>
                  <a:lnTo>
                    <a:pt x="2324019" y="871862"/>
                  </a:lnTo>
                  <a:lnTo>
                    <a:pt x="2192566" y="570034"/>
                  </a:lnTo>
                  <a:lnTo>
                    <a:pt x="3518134" y="570034"/>
                  </a:lnTo>
                  <a:lnTo>
                    <a:pt x="3562095" y="574591"/>
                  </a:lnTo>
                  <a:lnTo>
                    <a:pt x="3604809" y="587931"/>
                  </a:lnTo>
                  <a:lnTo>
                    <a:pt x="3645464" y="609556"/>
                  </a:lnTo>
                  <a:lnTo>
                    <a:pt x="3683251" y="638969"/>
                  </a:lnTo>
                  <a:lnTo>
                    <a:pt x="3717358" y="675674"/>
                  </a:lnTo>
                  <a:lnTo>
                    <a:pt x="3746974" y="719172"/>
                  </a:lnTo>
                  <a:lnTo>
                    <a:pt x="3771288" y="768967"/>
                  </a:lnTo>
                  <a:lnTo>
                    <a:pt x="4270920" y="1916169"/>
                  </a:lnTo>
                  <a:close/>
                </a:path>
                <a:path extrusionOk="0" h="5155565" w="4638675">
                  <a:moveTo>
                    <a:pt x="673702" y="4239780"/>
                  </a:moveTo>
                  <a:lnTo>
                    <a:pt x="272384" y="4239780"/>
                  </a:lnTo>
                  <a:lnTo>
                    <a:pt x="253491" y="4236434"/>
                  </a:lnTo>
                  <a:lnTo>
                    <a:pt x="221556" y="4211606"/>
                  </a:lnTo>
                  <a:lnTo>
                    <a:pt x="9751" y="3729694"/>
                  </a:lnTo>
                  <a:lnTo>
                    <a:pt x="0" y="3682485"/>
                  </a:lnTo>
                  <a:lnTo>
                    <a:pt x="2437" y="3658125"/>
                  </a:lnTo>
                  <a:lnTo>
                    <a:pt x="209976" y="3173550"/>
                  </a:lnTo>
                  <a:lnTo>
                    <a:pt x="236304" y="3138144"/>
                  </a:lnTo>
                  <a:lnTo>
                    <a:pt x="272384" y="3125190"/>
                  </a:lnTo>
                  <a:lnTo>
                    <a:pt x="673702" y="3125190"/>
                  </a:lnTo>
                  <a:lnTo>
                    <a:pt x="724043" y="3153365"/>
                  </a:lnTo>
                  <a:lnTo>
                    <a:pt x="936336" y="3635276"/>
                  </a:lnTo>
                  <a:lnTo>
                    <a:pt x="946087" y="3682485"/>
                  </a:lnTo>
                  <a:lnTo>
                    <a:pt x="943649" y="3706846"/>
                  </a:lnTo>
                  <a:lnTo>
                    <a:pt x="735244" y="4191421"/>
                  </a:lnTo>
                  <a:lnTo>
                    <a:pt x="709348" y="4226827"/>
                  </a:lnTo>
                  <a:lnTo>
                    <a:pt x="673702" y="4239780"/>
                  </a:lnTo>
                  <a:close/>
                </a:path>
              </a:pathLst>
            </a:custGeom>
            <a:solidFill>
              <a:srgbClr val="7F7F7F">
                <a:alpha val="14902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7" name="Google Shape;47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854890" y="1715881"/>
              <a:ext cx="3203509" cy="342623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descr="$PPTXTitle" id="48" name="Google Shape;48;p7"/>
          <p:cNvSpPr txBox="1"/>
          <p:nvPr>
            <p:ph type="title"/>
          </p:nvPr>
        </p:nvSpPr>
        <p:spPr>
          <a:xfrm>
            <a:off x="1470438" y="173647"/>
            <a:ext cx="8078470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1F497D"/>
                </a:solidFill>
              </a:rPr>
              <a:t>SMART INDIA HACKATHON 2025</a:t>
            </a:r>
            <a:endParaRPr sz="4000"/>
          </a:p>
        </p:txBody>
      </p:sp>
      <p:sp>
        <p:nvSpPr>
          <p:cNvPr id="49" name="Google Shape;49;p7"/>
          <p:cNvSpPr txBox="1"/>
          <p:nvPr/>
        </p:nvSpPr>
        <p:spPr>
          <a:xfrm>
            <a:off x="450000" y="1226725"/>
            <a:ext cx="7835700" cy="56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41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latin typeface="Times New Roman"/>
                <a:ea typeface="Times New Roman"/>
                <a:cs typeface="Times New Roman"/>
                <a:sym typeface="Times New Roman"/>
              </a:rPr>
              <a:t>TITLE PAGE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435"/>
              </a:spcBef>
              <a:spcAft>
                <a:spcPts val="0"/>
              </a:spcAft>
              <a:buNone/>
            </a:pPr>
            <a:r>
              <a:t/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38760" lvl="0" marL="2514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b="1" lang="en-US" sz="2400">
                <a:latin typeface="Arial"/>
                <a:ea typeface="Arial"/>
                <a:cs typeface="Arial"/>
                <a:sym typeface="Arial"/>
              </a:rPr>
              <a:t>Problem Statement ID – </a:t>
            </a: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SIH26153 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SzPts val="2400"/>
              <a:buFont typeface="Arial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238760" lvl="0" marL="2514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b="1" lang="en-US" sz="2400">
                <a:latin typeface="Arial"/>
                <a:ea typeface="Arial"/>
                <a:cs typeface="Arial"/>
                <a:sym typeface="Arial"/>
              </a:rPr>
              <a:t>Problem Statement Title-</a:t>
            </a:r>
            <a:r>
              <a:rPr b="1" lang="en-US" sz="2400"/>
              <a:t> </a:t>
            </a:r>
            <a:r>
              <a:rPr b="1" lang="en-US" sz="2200">
                <a:solidFill>
                  <a:schemeClr val="dk1"/>
                </a:solidFill>
              </a:rPr>
              <a:t>AI based Network Attack    Forecasting from Network Traffic Data </a:t>
            </a:r>
            <a:endParaRPr b="1"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SzPts val="2400"/>
              <a:buFont typeface="Arial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238760" lvl="0" marL="2514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b="1" lang="en-US" sz="2400">
                <a:latin typeface="Arial"/>
                <a:ea typeface="Arial"/>
                <a:cs typeface="Arial"/>
                <a:sym typeface="Arial"/>
              </a:rPr>
              <a:t>Theme - </a:t>
            </a: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Blockchain &amp; Cybersecurity 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SzPts val="2400"/>
              <a:buFont typeface="Arial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238760" lvl="0" marL="2514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b="1" lang="en-US" sz="2400">
                <a:latin typeface="Arial"/>
                <a:ea typeface="Arial"/>
                <a:cs typeface="Arial"/>
                <a:sym typeface="Arial"/>
              </a:rPr>
              <a:t>PS Category - Software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SzPts val="2400"/>
              <a:buFont typeface="Arial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238760" lvl="0" marL="2514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b="1" lang="en-US" sz="2400">
                <a:latin typeface="Arial"/>
                <a:ea typeface="Arial"/>
                <a:cs typeface="Arial"/>
                <a:sym typeface="Arial"/>
              </a:rPr>
              <a:t>Team ID - </a:t>
            </a: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SIH26-A0H-T182 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SzPts val="2400"/>
              <a:buFont typeface="Arial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238760" lvl="0" marL="2514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b="1" lang="en-US" sz="2400">
                <a:latin typeface="Arial"/>
                <a:ea typeface="Arial"/>
                <a:cs typeface="Arial"/>
                <a:sym typeface="Arial"/>
              </a:rPr>
              <a:t>Team Name</a:t>
            </a:r>
            <a:r>
              <a:rPr b="1" lang="en-US" sz="2400"/>
              <a:t> - </a:t>
            </a:r>
            <a:r>
              <a:rPr b="1" lang="en-US" sz="2200"/>
              <a:t>EDITH</a:t>
            </a:r>
            <a:endParaRPr sz="22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" name="Google Shape;50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907099" y="238574"/>
            <a:ext cx="2079531" cy="9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55" name="Google Shape;55;p8"/>
          <p:cNvSpPr txBox="1"/>
          <p:nvPr>
            <p:ph type="title"/>
          </p:nvPr>
        </p:nvSpPr>
        <p:spPr>
          <a:xfrm>
            <a:off x="2599375" y="252100"/>
            <a:ext cx="7348800" cy="9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AI-Based Network Attack Forecasting from Network Traffic Data </a:t>
            </a:r>
            <a:endParaRPr sz="3200"/>
          </a:p>
        </p:txBody>
      </p:sp>
      <p:sp>
        <p:nvSpPr>
          <p:cNvPr id="56" name="Google Shape;56;p8"/>
          <p:cNvSpPr/>
          <p:nvPr/>
        </p:nvSpPr>
        <p:spPr>
          <a:xfrm>
            <a:off x="329565" y="252095"/>
            <a:ext cx="2081530" cy="807085"/>
          </a:xfrm>
          <a:custGeom>
            <a:rect b="b" l="l" r="r" t="t"/>
            <a:pathLst>
              <a:path extrusionOk="0" h="807085" w="2081530">
                <a:moveTo>
                  <a:pt x="0" y="403542"/>
                </a:moveTo>
                <a:lnTo>
                  <a:pt x="8109" y="352922"/>
                </a:lnTo>
                <a:lnTo>
                  <a:pt x="31785" y="304179"/>
                </a:lnTo>
                <a:lnTo>
                  <a:pt x="70055" y="257691"/>
                </a:lnTo>
                <a:lnTo>
                  <a:pt x="121941" y="213835"/>
                </a:lnTo>
                <a:lnTo>
                  <a:pt x="186470" y="172989"/>
                </a:lnTo>
                <a:lnTo>
                  <a:pt x="223170" y="153814"/>
                </a:lnTo>
                <a:lnTo>
                  <a:pt x="262665" y="135533"/>
                </a:lnTo>
                <a:lnTo>
                  <a:pt x="304833" y="118194"/>
                </a:lnTo>
                <a:lnTo>
                  <a:pt x="349551" y="101844"/>
                </a:lnTo>
                <a:lnTo>
                  <a:pt x="396699" y="86531"/>
                </a:lnTo>
                <a:lnTo>
                  <a:pt x="446153" y="72301"/>
                </a:lnTo>
                <a:lnTo>
                  <a:pt x="497793" y="59202"/>
                </a:lnTo>
                <a:lnTo>
                  <a:pt x="551496" y="47281"/>
                </a:lnTo>
                <a:lnTo>
                  <a:pt x="607140" y="36585"/>
                </a:lnTo>
                <a:lnTo>
                  <a:pt x="664603" y="27163"/>
                </a:lnTo>
                <a:lnTo>
                  <a:pt x="723764" y="19060"/>
                </a:lnTo>
                <a:lnTo>
                  <a:pt x="784501" y="12324"/>
                </a:lnTo>
                <a:lnTo>
                  <a:pt x="846691" y="7003"/>
                </a:lnTo>
                <a:lnTo>
                  <a:pt x="910213" y="3144"/>
                </a:lnTo>
                <a:lnTo>
                  <a:pt x="974945" y="793"/>
                </a:lnTo>
                <a:lnTo>
                  <a:pt x="1040764" y="0"/>
                </a:lnTo>
                <a:lnTo>
                  <a:pt x="1106584" y="793"/>
                </a:lnTo>
                <a:lnTo>
                  <a:pt x="1171316" y="3144"/>
                </a:lnTo>
                <a:lnTo>
                  <a:pt x="1234838" y="7003"/>
                </a:lnTo>
                <a:lnTo>
                  <a:pt x="1297028" y="12324"/>
                </a:lnTo>
                <a:lnTo>
                  <a:pt x="1357765" y="19060"/>
                </a:lnTo>
                <a:lnTo>
                  <a:pt x="1416926" y="27163"/>
                </a:lnTo>
                <a:lnTo>
                  <a:pt x="1474389" y="36585"/>
                </a:lnTo>
                <a:lnTo>
                  <a:pt x="1530033" y="47281"/>
                </a:lnTo>
                <a:lnTo>
                  <a:pt x="1583736" y="59202"/>
                </a:lnTo>
                <a:lnTo>
                  <a:pt x="1635376" y="72301"/>
                </a:lnTo>
                <a:lnTo>
                  <a:pt x="1684831" y="86531"/>
                </a:lnTo>
                <a:lnTo>
                  <a:pt x="1731978" y="101844"/>
                </a:lnTo>
                <a:lnTo>
                  <a:pt x="1776697" y="118194"/>
                </a:lnTo>
                <a:lnTo>
                  <a:pt x="1818864" y="135533"/>
                </a:lnTo>
                <a:lnTo>
                  <a:pt x="1858359" y="153814"/>
                </a:lnTo>
                <a:lnTo>
                  <a:pt x="1895059" y="172989"/>
                </a:lnTo>
                <a:lnTo>
                  <a:pt x="1928843" y="193012"/>
                </a:lnTo>
                <a:lnTo>
                  <a:pt x="1987172" y="235410"/>
                </a:lnTo>
                <a:lnTo>
                  <a:pt x="2032372" y="280630"/>
                </a:lnTo>
                <a:lnTo>
                  <a:pt x="2063467" y="328293"/>
                </a:lnTo>
                <a:lnTo>
                  <a:pt x="2079482" y="378021"/>
                </a:lnTo>
                <a:lnTo>
                  <a:pt x="2081529" y="403542"/>
                </a:lnTo>
                <a:lnTo>
                  <a:pt x="2079482" y="429063"/>
                </a:lnTo>
                <a:lnTo>
                  <a:pt x="2063467" y="478791"/>
                </a:lnTo>
                <a:lnTo>
                  <a:pt x="2032372" y="526454"/>
                </a:lnTo>
                <a:lnTo>
                  <a:pt x="1987172" y="571674"/>
                </a:lnTo>
                <a:lnTo>
                  <a:pt x="1928843" y="614072"/>
                </a:lnTo>
                <a:lnTo>
                  <a:pt x="1895059" y="634095"/>
                </a:lnTo>
                <a:lnTo>
                  <a:pt x="1858359" y="653270"/>
                </a:lnTo>
                <a:lnTo>
                  <a:pt x="1818864" y="671551"/>
                </a:lnTo>
                <a:lnTo>
                  <a:pt x="1776697" y="688890"/>
                </a:lnTo>
                <a:lnTo>
                  <a:pt x="1731978" y="705240"/>
                </a:lnTo>
                <a:lnTo>
                  <a:pt x="1684831" y="720553"/>
                </a:lnTo>
                <a:lnTo>
                  <a:pt x="1635376" y="734783"/>
                </a:lnTo>
                <a:lnTo>
                  <a:pt x="1583736" y="747882"/>
                </a:lnTo>
                <a:lnTo>
                  <a:pt x="1530033" y="759803"/>
                </a:lnTo>
                <a:lnTo>
                  <a:pt x="1474389" y="770499"/>
                </a:lnTo>
                <a:lnTo>
                  <a:pt x="1416926" y="779921"/>
                </a:lnTo>
                <a:lnTo>
                  <a:pt x="1357765" y="788024"/>
                </a:lnTo>
                <a:lnTo>
                  <a:pt x="1297028" y="794760"/>
                </a:lnTo>
                <a:lnTo>
                  <a:pt x="1234838" y="800081"/>
                </a:lnTo>
                <a:lnTo>
                  <a:pt x="1171316" y="803940"/>
                </a:lnTo>
                <a:lnTo>
                  <a:pt x="1106584" y="806291"/>
                </a:lnTo>
                <a:lnTo>
                  <a:pt x="1040764" y="807084"/>
                </a:lnTo>
                <a:lnTo>
                  <a:pt x="974945" y="806291"/>
                </a:lnTo>
                <a:lnTo>
                  <a:pt x="910213" y="803940"/>
                </a:lnTo>
                <a:lnTo>
                  <a:pt x="846691" y="800081"/>
                </a:lnTo>
                <a:lnTo>
                  <a:pt x="784501" y="794760"/>
                </a:lnTo>
                <a:lnTo>
                  <a:pt x="723764" y="788024"/>
                </a:lnTo>
                <a:lnTo>
                  <a:pt x="664603" y="779921"/>
                </a:lnTo>
                <a:lnTo>
                  <a:pt x="607140" y="770499"/>
                </a:lnTo>
                <a:lnTo>
                  <a:pt x="551496" y="759803"/>
                </a:lnTo>
                <a:lnTo>
                  <a:pt x="497793" y="747882"/>
                </a:lnTo>
                <a:lnTo>
                  <a:pt x="446153" y="734783"/>
                </a:lnTo>
                <a:lnTo>
                  <a:pt x="396699" y="720553"/>
                </a:lnTo>
                <a:lnTo>
                  <a:pt x="349551" y="705240"/>
                </a:lnTo>
                <a:lnTo>
                  <a:pt x="304833" y="688890"/>
                </a:lnTo>
                <a:lnTo>
                  <a:pt x="262665" y="671551"/>
                </a:lnTo>
                <a:lnTo>
                  <a:pt x="223170" y="653270"/>
                </a:lnTo>
                <a:lnTo>
                  <a:pt x="186470" y="634095"/>
                </a:lnTo>
                <a:lnTo>
                  <a:pt x="152686" y="614072"/>
                </a:lnTo>
                <a:lnTo>
                  <a:pt x="94357" y="571674"/>
                </a:lnTo>
                <a:lnTo>
                  <a:pt x="49157" y="526454"/>
                </a:lnTo>
                <a:lnTo>
                  <a:pt x="18062" y="478791"/>
                </a:lnTo>
                <a:lnTo>
                  <a:pt x="2047" y="429063"/>
                </a:lnTo>
                <a:lnTo>
                  <a:pt x="0" y="403542"/>
                </a:lnTo>
                <a:close/>
              </a:path>
            </a:pathLst>
          </a:custGeom>
          <a:noFill/>
          <a:ln cap="flat" cmpd="sng" w="25375">
            <a:solidFill>
              <a:srgbClr val="8064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8"/>
          <p:cNvSpPr txBox="1"/>
          <p:nvPr/>
        </p:nvSpPr>
        <p:spPr>
          <a:xfrm>
            <a:off x="839373" y="496633"/>
            <a:ext cx="10623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     EDITH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8"/>
          <p:cNvSpPr txBox="1"/>
          <p:nvPr>
            <p:ph idx="1" type="body"/>
          </p:nvPr>
        </p:nvSpPr>
        <p:spPr>
          <a:xfrm>
            <a:off x="183925" y="1898575"/>
            <a:ext cx="5269200" cy="44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IDEA / SOLUTION 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Implementation of an </a:t>
            </a:r>
            <a:r>
              <a:rPr b="1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AI-based Network World Model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that learns the temporal evolution of network traffic and </a:t>
            </a:r>
            <a:r>
              <a:rPr b="1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forecasts attack progression before compromise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◆ </a:t>
            </a:r>
            <a:r>
              <a:rPr b="1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Multi-level traffic analysis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using flow-level and packet-level network features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◆ </a:t>
            </a:r>
            <a:r>
              <a:rPr b="1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Temporal World Model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using LSTM/Transformer to learn network </a:t>
            </a:r>
            <a:r>
              <a:rPr b="1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state-transition dynamics</a:t>
            </a:r>
            <a:endParaRPr b="1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◆ </a:t>
            </a:r>
            <a:r>
              <a:rPr b="1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K-step forward simulation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predict future network states and estimate </a:t>
            </a:r>
            <a:r>
              <a:rPr b="1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infiltration probability</a:t>
            </a:r>
            <a:endParaRPr b="1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◆ </a:t>
            </a:r>
            <a:r>
              <a:rPr b="1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MITRE ATT&amp;CK stage mapping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forecast attacker progression such as Reconnaissance, Initial Access and Lateral Movement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◆ </a:t>
            </a:r>
            <a:r>
              <a:rPr b="1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Explainable AI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identifies the traffic features and patterns driving each prediction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8"/>
          <p:cNvSpPr txBox="1"/>
          <p:nvPr/>
        </p:nvSpPr>
        <p:spPr>
          <a:xfrm>
            <a:off x="5683375" y="4053675"/>
            <a:ext cx="6456600" cy="2007000"/>
          </a:xfrm>
          <a:prstGeom prst="rect">
            <a:avLst/>
          </a:prstGeom>
          <a:noFill/>
          <a:ln cap="flat" cmpd="sng" w="9525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21462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4F81BD"/>
                </a:solidFill>
                <a:latin typeface="Verdana"/>
                <a:ea typeface="Verdana"/>
                <a:cs typeface="Verdana"/>
                <a:sym typeface="Verdana"/>
              </a:rPr>
              <a:t>Unique Value Propositions (UVP) :</a:t>
            </a:r>
            <a:endParaRPr sz="18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◆ </a:t>
            </a:r>
            <a:r>
              <a:rPr b="1" lang="en-US" sz="1100">
                <a:solidFill>
                  <a:schemeClr val="dk1"/>
                </a:solidFill>
              </a:rPr>
              <a:t>Predict Before Compromise</a:t>
            </a:r>
            <a:r>
              <a:rPr lang="en-US" sz="1100">
                <a:solidFill>
                  <a:schemeClr val="dk1"/>
                </a:solidFill>
              </a:rPr>
              <a:t> — proactive rather than reactive defence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◆ </a:t>
            </a:r>
            <a:r>
              <a:rPr b="1" lang="en-US" sz="1100">
                <a:solidFill>
                  <a:schemeClr val="dk1"/>
                </a:solidFill>
              </a:rPr>
              <a:t>Network World Model</a:t>
            </a:r>
            <a:r>
              <a:rPr lang="en-US" sz="1100">
                <a:solidFill>
                  <a:schemeClr val="dk1"/>
                </a:solidFill>
              </a:rPr>
              <a:t> — learns evolving network behaviour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◆ </a:t>
            </a:r>
            <a:r>
              <a:rPr b="1" lang="en-US" sz="1100">
                <a:solidFill>
                  <a:schemeClr val="dk1"/>
                </a:solidFill>
              </a:rPr>
              <a:t>Attack Progression Forecasting</a:t>
            </a:r>
            <a:r>
              <a:rPr lang="en-US" sz="1100">
                <a:solidFill>
                  <a:schemeClr val="dk1"/>
                </a:solidFill>
              </a:rPr>
              <a:t> — predicts future attack stages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◆ </a:t>
            </a:r>
            <a:r>
              <a:rPr b="1" lang="en-US" sz="1100">
                <a:solidFill>
                  <a:schemeClr val="dk1"/>
                </a:solidFill>
              </a:rPr>
              <a:t>Explainable AI</a:t>
            </a:r>
            <a:r>
              <a:rPr lang="en-US" sz="1100">
                <a:solidFill>
                  <a:schemeClr val="dk1"/>
                </a:solidFill>
              </a:rPr>
              <a:t> — shows </a:t>
            </a:r>
            <a:r>
              <a:rPr i="1" lang="en-US" sz="1100">
                <a:solidFill>
                  <a:schemeClr val="dk1"/>
                </a:solidFill>
              </a:rPr>
              <a:t>why</a:t>
            </a:r>
            <a:r>
              <a:rPr lang="en-US" sz="1100">
                <a:solidFill>
                  <a:schemeClr val="dk1"/>
                </a:solidFill>
              </a:rPr>
              <a:t> an attack is being forecast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◆ </a:t>
            </a:r>
            <a:r>
              <a:rPr b="1" lang="en-US" sz="1100">
                <a:solidFill>
                  <a:schemeClr val="dk1"/>
                </a:solidFill>
              </a:rPr>
              <a:t>Fully Offline Prototype</a:t>
            </a:r>
            <a:r>
              <a:rPr lang="en-US" sz="1100">
                <a:solidFill>
                  <a:schemeClr val="dk1"/>
                </a:solidFill>
              </a:rPr>
              <a:t> — open-source datasets and tools</a:t>
            </a:r>
            <a:endParaRPr b="1"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8"/>
          <p:cNvSpPr txBox="1"/>
          <p:nvPr/>
        </p:nvSpPr>
        <p:spPr>
          <a:xfrm>
            <a:off x="5683375" y="1352050"/>
            <a:ext cx="6456600" cy="2599500"/>
          </a:xfrm>
          <a:prstGeom prst="rect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36175">
            <a:spAutoFit/>
          </a:bodyPr>
          <a:lstStyle/>
          <a:p>
            <a:pPr indent="0" lvl="0" marL="21462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4F81BD"/>
                </a:solidFill>
                <a:latin typeface="Verdana"/>
                <a:ea typeface="Verdana"/>
                <a:cs typeface="Verdana"/>
                <a:sym typeface="Verdana"/>
              </a:rPr>
              <a:t>Problem Resolution :</a:t>
            </a:r>
            <a:endParaRPr sz="18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</a:rPr>
              <a:t>◆ Moves beyond traditional IDS by forecasting malicious activity instead of only classifying individual flows as   benign or malicious.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</a:rPr>
              <a:t>◆ Learns temporal and sequential attack behaviour, capturing how reconnaissance can evolve into initial access and lateral movement.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</a:rPr>
              <a:t>◆ Provides defenders with early warning of likely attack progression, enabling proactive response before compromise is completed.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</a:rPr>
              <a:t> ◆ Supports enterprise and Critical Information Infrastructure environments using open-source network telemetry</a:t>
            </a:r>
            <a:r>
              <a:rPr lang="en-US" sz="900">
                <a:solidFill>
                  <a:schemeClr val="dk1"/>
                </a:solidFill>
              </a:rPr>
              <a:t>.</a:t>
            </a:r>
            <a:endParaRPr sz="900">
              <a:solidFill>
                <a:schemeClr val="dk1"/>
              </a:solidFill>
            </a:endParaRPr>
          </a:p>
          <a:p>
            <a:pPr indent="0" lvl="0" marL="0" marR="41275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8"/>
          <p:cNvSpPr/>
          <p:nvPr/>
        </p:nvSpPr>
        <p:spPr>
          <a:xfrm>
            <a:off x="46750" y="1352050"/>
            <a:ext cx="5543550" cy="4712529"/>
          </a:xfrm>
          <a:custGeom>
            <a:rect b="b" l="l" r="r" t="t"/>
            <a:pathLst>
              <a:path extrusionOk="0" h="4608830" w="5543550">
                <a:moveTo>
                  <a:pt x="0" y="0"/>
                </a:moveTo>
                <a:lnTo>
                  <a:pt x="5543549" y="0"/>
                </a:lnTo>
                <a:lnTo>
                  <a:pt x="5543549" y="4608829"/>
                </a:lnTo>
                <a:lnTo>
                  <a:pt x="0" y="4608829"/>
                </a:lnTo>
                <a:lnTo>
                  <a:pt x="0" y="0"/>
                </a:lnTo>
                <a:close/>
              </a:path>
            </a:pathLst>
          </a:custGeom>
          <a:noFill/>
          <a:ln cap="flat" cmpd="sng" w="9525">
            <a:solidFill>
              <a:srgbClr val="4F81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</a:t>
            </a:r>
            <a:endParaRPr/>
          </a:p>
        </p:txBody>
      </p:sp>
      <p:pic>
        <p:nvPicPr>
          <p:cNvPr id="62" name="Google Shape;6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48143" y="238574"/>
            <a:ext cx="2002005" cy="948558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8"/>
          <p:cNvSpPr txBox="1"/>
          <p:nvPr>
            <p:ph idx="11" type="ftr"/>
          </p:nvPr>
        </p:nvSpPr>
        <p:spPr>
          <a:xfrm>
            <a:off x="5325384" y="6399265"/>
            <a:ext cx="1850390" cy="2514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19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@SIH Idea submission- Template</a:t>
            </a:r>
            <a:endParaRPr/>
          </a:p>
        </p:txBody>
      </p:sp>
      <p:sp>
        <p:nvSpPr>
          <p:cNvPr id="64" name="Google Shape;64;p8"/>
          <p:cNvSpPr txBox="1"/>
          <p:nvPr>
            <p:ph idx="12" type="sldNum"/>
          </p:nvPr>
        </p:nvSpPr>
        <p:spPr>
          <a:xfrm>
            <a:off x="11380241" y="6399265"/>
            <a:ext cx="167640" cy="2514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190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69" name="Google Shape;69;p9"/>
          <p:cNvSpPr txBox="1"/>
          <p:nvPr>
            <p:ph type="title"/>
          </p:nvPr>
        </p:nvSpPr>
        <p:spPr>
          <a:xfrm>
            <a:off x="2619300" y="372125"/>
            <a:ext cx="61941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TECHNICAL APPROACH</a:t>
            </a:r>
            <a:endParaRPr/>
          </a:p>
        </p:txBody>
      </p:sp>
      <p:sp>
        <p:nvSpPr>
          <p:cNvPr id="70" name="Google Shape;70;p9"/>
          <p:cNvSpPr txBox="1"/>
          <p:nvPr/>
        </p:nvSpPr>
        <p:spPr>
          <a:xfrm>
            <a:off x="763490" y="496633"/>
            <a:ext cx="10623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  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9"/>
          <p:cNvSpPr txBox="1"/>
          <p:nvPr/>
        </p:nvSpPr>
        <p:spPr>
          <a:xfrm>
            <a:off x="398325" y="1187125"/>
            <a:ext cx="4694100" cy="5124300"/>
          </a:xfrm>
          <a:prstGeom prst="rect">
            <a:avLst/>
          </a:prstGeom>
          <a:noFill/>
          <a:ln cap="flat" cmpd="sng" w="25375">
            <a:solidFill>
              <a:srgbClr val="4F81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51125">
            <a:spAutoFit/>
          </a:bodyPr>
          <a:lstStyle/>
          <a:p>
            <a:pPr indent="0" lvl="0" marL="260350" marR="49784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latin typeface="Calibri"/>
                <a:ea typeface="Calibri"/>
                <a:cs typeface="Calibri"/>
                <a:sym typeface="Calibri"/>
              </a:rPr>
              <a:t>Data Pipeline:</a:t>
            </a:r>
            <a:r>
              <a:rPr lang="en-US" sz="1700">
                <a:latin typeface="Calibri"/>
                <a:ea typeface="Calibri"/>
                <a:cs typeface="Calibri"/>
                <a:sym typeface="Calibri"/>
              </a:rPr>
              <a:t> Extract Flow + packet-level network features from CIC-IDS-2018 and CTU-13 (via Scapy/PyShark) into a clean feature matrix.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indent="0" lvl="0" marL="260350" marR="49784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latin typeface="Calibri"/>
                <a:ea typeface="Calibri"/>
                <a:cs typeface="Calibri"/>
                <a:sym typeface="Calibri"/>
              </a:rPr>
              <a:t>Core Idea (World Model):</a:t>
            </a:r>
            <a:r>
              <a:rPr lang="en-US" sz="1700">
                <a:latin typeface="Calibri"/>
                <a:ea typeface="Calibri"/>
                <a:cs typeface="Calibri"/>
                <a:sym typeface="Calibri"/>
              </a:rPr>
              <a:t> An LSTM/Transformer learns how network state evolves — predicting what happens next, not just labeling now.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indent="0" lvl="0" marL="260350" marR="49784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latin typeface="Calibri"/>
                <a:ea typeface="Calibri"/>
                <a:cs typeface="Calibri"/>
                <a:sym typeface="Calibri"/>
              </a:rPr>
              <a:t>Attack Forecasting:</a:t>
            </a:r>
            <a:r>
              <a:rPr lang="en-US" sz="1700">
                <a:latin typeface="Calibri"/>
                <a:ea typeface="Calibri"/>
                <a:cs typeface="Calibri"/>
                <a:sym typeface="Calibri"/>
              </a:rPr>
              <a:t> Simulates ahead to output an infiltration risk score + predicted MITRE ATT&amp;CK stage (Recon → Exfiltration).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indent="0" lvl="0" marL="260350" marR="49784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latin typeface="Calibri"/>
                <a:ea typeface="Calibri"/>
                <a:cs typeface="Calibri"/>
                <a:sym typeface="Calibri"/>
              </a:rPr>
              <a:t>Explainability:</a:t>
            </a:r>
            <a:r>
              <a:rPr lang="en-US" sz="1700">
                <a:latin typeface="Calibri"/>
                <a:ea typeface="Calibri"/>
                <a:cs typeface="Calibri"/>
                <a:sym typeface="Calibri"/>
              </a:rPr>
              <a:t> SHAP/attention weights show exactly which ports, flags, or patterns drove each prediction.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indent="0" lvl="0" marL="260350" marR="49784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latin typeface="Calibri"/>
                <a:ea typeface="Calibri"/>
                <a:cs typeface="Calibri"/>
                <a:sym typeface="Calibri"/>
              </a:rPr>
              <a:t>Tech Stack: </a:t>
            </a:r>
            <a:r>
              <a:rPr lang="en-US" sz="1700">
                <a:latin typeface="Calibri"/>
                <a:ea typeface="Calibri"/>
                <a:cs typeface="Calibri"/>
                <a:sym typeface="Calibri"/>
              </a:rPr>
              <a:t>Python + PyTorch, Streamlit dashboard — runs fully offline, no cloud needed.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indent="0" lvl="0" marL="260350" marR="49784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1700">
                <a:latin typeface="Calibri"/>
                <a:ea typeface="Calibri"/>
                <a:cs typeface="Calibri"/>
                <a:sym typeface="Calibri"/>
              </a:rPr>
              <a:t>Status:</a:t>
            </a:r>
            <a:r>
              <a:rPr lang="en-US" sz="1700">
                <a:latin typeface="Calibri"/>
                <a:ea typeface="Calibri"/>
                <a:cs typeface="Calibri"/>
                <a:sym typeface="Calibri"/>
              </a:rPr>
              <a:t> Feature pipeline + baseline done. World model training/testing in progress.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9"/>
          <p:cNvSpPr txBox="1"/>
          <p:nvPr/>
        </p:nvSpPr>
        <p:spPr>
          <a:xfrm>
            <a:off x="6568540" y="1187135"/>
            <a:ext cx="2642100" cy="2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4F81BD"/>
                </a:solidFill>
                <a:latin typeface="Calibri"/>
                <a:ea typeface="Calibri"/>
                <a:cs typeface="Calibri"/>
                <a:sym typeface="Calibri"/>
              </a:rPr>
              <a:t>PROCESS FLOW ARCHITECTURE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3" name="Google Shape;7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48143" y="238574"/>
            <a:ext cx="2002005" cy="948558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9"/>
          <p:cNvSpPr txBox="1"/>
          <p:nvPr>
            <p:ph idx="11" type="ftr"/>
          </p:nvPr>
        </p:nvSpPr>
        <p:spPr>
          <a:xfrm>
            <a:off x="5325375" y="6399284"/>
            <a:ext cx="1850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19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@SIH Idea submission- Template</a:t>
            </a:r>
            <a:endParaRPr/>
          </a:p>
        </p:txBody>
      </p:sp>
      <p:sp>
        <p:nvSpPr>
          <p:cNvPr id="75" name="Google Shape;75;p9"/>
          <p:cNvSpPr txBox="1"/>
          <p:nvPr>
            <p:ph idx="12" type="sldNum"/>
          </p:nvPr>
        </p:nvSpPr>
        <p:spPr>
          <a:xfrm>
            <a:off x="11380241" y="6399265"/>
            <a:ext cx="167640" cy="2514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190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6" name="Google Shape;76;p9"/>
          <p:cNvSpPr/>
          <p:nvPr/>
        </p:nvSpPr>
        <p:spPr>
          <a:xfrm>
            <a:off x="398327" y="252083"/>
            <a:ext cx="2081530" cy="807085"/>
          </a:xfrm>
          <a:custGeom>
            <a:rect b="b" l="l" r="r" t="t"/>
            <a:pathLst>
              <a:path extrusionOk="0" h="807085" w="2081530">
                <a:moveTo>
                  <a:pt x="0" y="403542"/>
                </a:moveTo>
                <a:lnTo>
                  <a:pt x="8109" y="352922"/>
                </a:lnTo>
                <a:lnTo>
                  <a:pt x="31785" y="304179"/>
                </a:lnTo>
                <a:lnTo>
                  <a:pt x="70055" y="257691"/>
                </a:lnTo>
                <a:lnTo>
                  <a:pt x="121941" y="213835"/>
                </a:lnTo>
                <a:lnTo>
                  <a:pt x="186470" y="172989"/>
                </a:lnTo>
                <a:lnTo>
                  <a:pt x="223170" y="153814"/>
                </a:lnTo>
                <a:lnTo>
                  <a:pt x="262665" y="135533"/>
                </a:lnTo>
                <a:lnTo>
                  <a:pt x="304833" y="118194"/>
                </a:lnTo>
                <a:lnTo>
                  <a:pt x="349551" y="101844"/>
                </a:lnTo>
                <a:lnTo>
                  <a:pt x="396699" y="86531"/>
                </a:lnTo>
                <a:lnTo>
                  <a:pt x="446153" y="72301"/>
                </a:lnTo>
                <a:lnTo>
                  <a:pt x="497793" y="59202"/>
                </a:lnTo>
                <a:lnTo>
                  <a:pt x="551496" y="47281"/>
                </a:lnTo>
                <a:lnTo>
                  <a:pt x="607140" y="36585"/>
                </a:lnTo>
                <a:lnTo>
                  <a:pt x="664603" y="27163"/>
                </a:lnTo>
                <a:lnTo>
                  <a:pt x="723764" y="19060"/>
                </a:lnTo>
                <a:lnTo>
                  <a:pt x="784501" y="12324"/>
                </a:lnTo>
                <a:lnTo>
                  <a:pt x="846691" y="7003"/>
                </a:lnTo>
                <a:lnTo>
                  <a:pt x="910213" y="3144"/>
                </a:lnTo>
                <a:lnTo>
                  <a:pt x="974945" y="793"/>
                </a:lnTo>
                <a:lnTo>
                  <a:pt x="1040764" y="0"/>
                </a:lnTo>
                <a:lnTo>
                  <a:pt x="1106584" y="793"/>
                </a:lnTo>
                <a:lnTo>
                  <a:pt x="1171316" y="3144"/>
                </a:lnTo>
                <a:lnTo>
                  <a:pt x="1234838" y="7003"/>
                </a:lnTo>
                <a:lnTo>
                  <a:pt x="1297028" y="12324"/>
                </a:lnTo>
                <a:lnTo>
                  <a:pt x="1357765" y="19060"/>
                </a:lnTo>
                <a:lnTo>
                  <a:pt x="1416926" y="27163"/>
                </a:lnTo>
                <a:lnTo>
                  <a:pt x="1474389" y="36585"/>
                </a:lnTo>
                <a:lnTo>
                  <a:pt x="1530033" y="47281"/>
                </a:lnTo>
                <a:lnTo>
                  <a:pt x="1583736" y="59202"/>
                </a:lnTo>
                <a:lnTo>
                  <a:pt x="1635376" y="72301"/>
                </a:lnTo>
                <a:lnTo>
                  <a:pt x="1684831" y="86531"/>
                </a:lnTo>
                <a:lnTo>
                  <a:pt x="1731978" y="101844"/>
                </a:lnTo>
                <a:lnTo>
                  <a:pt x="1776697" y="118194"/>
                </a:lnTo>
                <a:lnTo>
                  <a:pt x="1818864" y="135533"/>
                </a:lnTo>
                <a:lnTo>
                  <a:pt x="1858359" y="153814"/>
                </a:lnTo>
                <a:lnTo>
                  <a:pt x="1895059" y="172989"/>
                </a:lnTo>
                <a:lnTo>
                  <a:pt x="1928843" y="193012"/>
                </a:lnTo>
                <a:lnTo>
                  <a:pt x="1987172" y="235410"/>
                </a:lnTo>
                <a:lnTo>
                  <a:pt x="2032372" y="280630"/>
                </a:lnTo>
                <a:lnTo>
                  <a:pt x="2063467" y="328293"/>
                </a:lnTo>
                <a:lnTo>
                  <a:pt x="2079482" y="378021"/>
                </a:lnTo>
                <a:lnTo>
                  <a:pt x="2081529" y="403542"/>
                </a:lnTo>
                <a:lnTo>
                  <a:pt x="2079482" y="429063"/>
                </a:lnTo>
                <a:lnTo>
                  <a:pt x="2063467" y="478791"/>
                </a:lnTo>
                <a:lnTo>
                  <a:pt x="2032372" y="526454"/>
                </a:lnTo>
                <a:lnTo>
                  <a:pt x="1987172" y="571674"/>
                </a:lnTo>
                <a:lnTo>
                  <a:pt x="1928843" y="614072"/>
                </a:lnTo>
                <a:lnTo>
                  <a:pt x="1895059" y="634095"/>
                </a:lnTo>
                <a:lnTo>
                  <a:pt x="1858359" y="653270"/>
                </a:lnTo>
                <a:lnTo>
                  <a:pt x="1818864" y="671551"/>
                </a:lnTo>
                <a:lnTo>
                  <a:pt x="1776697" y="688890"/>
                </a:lnTo>
                <a:lnTo>
                  <a:pt x="1731978" y="705240"/>
                </a:lnTo>
                <a:lnTo>
                  <a:pt x="1684831" y="720553"/>
                </a:lnTo>
                <a:lnTo>
                  <a:pt x="1635376" y="734783"/>
                </a:lnTo>
                <a:lnTo>
                  <a:pt x="1583736" y="747882"/>
                </a:lnTo>
                <a:lnTo>
                  <a:pt x="1530033" y="759803"/>
                </a:lnTo>
                <a:lnTo>
                  <a:pt x="1474389" y="770499"/>
                </a:lnTo>
                <a:lnTo>
                  <a:pt x="1416926" y="779921"/>
                </a:lnTo>
                <a:lnTo>
                  <a:pt x="1357765" y="788024"/>
                </a:lnTo>
                <a:lnTo>
                  <a:pt x="1297028" y="794760"/>
                </a:lnTo>
                <a:lnTo>
                  <a:pt x="1234838" y="800081"/>
                </a:lnTo>
                <a:lnTo>
                  <a:pt x="1171316" y="803940"/>
                </a:lnTo>
                <a:lnTo>
                  <a:pt x="1106584" y="806291"/>
                </a:lnTo>
                <a:lnTo>
                  <a:pt x="1040764" y="807084"/>
                </a:lnTo>
                <a:lnTo>
                  <a:pt x="974945" y="806291"/>
                </a:lnTo>
                <a:lnTo>
                  <a:pt x="910213" y="803940"/>
                </a:lnTo>
                <a:lnTo>
                  <a:pt x="846691" y="800081"/>
                </a:lnTo>
                <a:lnTo>
                  <a:pt x="784501" y="794760"/>
                </a:lnTo>
                <a:lnTo>
                  <a:pt x="723764" y="788024"/>
                </a:lnTo>
                <a:lnTo>
                  <a:pt x="664603" y="779921"/>
                </a:lnTo>
                <a:lnTo>
                  <a:pt x="607140" y="770499"/>
                </a:lnTo>
                <a:lnTo>
                  <a:pt x="551496" y="759803"/>
                </a:lnTo>
                <a:lnTo>
                  <a:pt x="497793" y="747882"/>
                </a:lnTo>
                <a:lnTo>
                  <a:pt x="446153" y="734783"/>
                </a:lnTo>
                <a:lnTo>
                  <a:pt x="396699" y="720553"/>
                </a:lnTo>
                <a:lnTo>
                  <a:pt x="349551" y="705240"/>
                </a:lnTo>
                <a:lnTo>
                  <a:pt x="304833" y="688890"/>
                </a:lnTo>
                <a:lnTo>
                  <a:pt x="262665" y="671551"/>
                </a:lnTo>
                <a:lnTo>
                  <a:pt x="223170" y="653270"/>
                </a:lnTo>
                <a:lnTo>
                  <a:pt x="186470" y="634095"/>
                </a:lnTo>
                <a:lnTo>
                  <a:pt x="152686" y="614072"/>
                </a:lnTo>
                <a:lnTo>
                  <a:pt x="94357" y="571674"/>
                </a:lnTo>
                <a:lnTo>
                  <a:pt x="49157" y="526454"/>
                </a:lnTo>
                <a:lnTo>
                  <a:pt x="18062" y="478791"/>
                </a:lnTo>
                <a:lnTo>
                  <a:pt x="2047" y="429063"/>
                </a:lnTo>
                <a:lnTo>
                  <a:pt x="0" y="403542"/>
                </a:lnTo>
                <a:close/>
              </a:path>
            </a:pathLst>
          </a:custGeom>
          <a:noFill/>
          <a:ln cap="flat" cmpd="sng" w="25375">
            <a:solidFill>
              <a:srgbClr val="8064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9"/>
          <p:cNvSpPr txBox="1"/>
          <p:nvPr/>
        </p:nvSpPr>
        <p:spPr>
          <a:xfrm>
            <a:off x="1035325" y="435725"/>
            <a:ext cx="10623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EDITH</a:t>
            </a:r>
            <a:endParaRPr sz="2800">
              <a:solidFill>
                <a:schemeClr val="dk1"/>
              </a:solidFill>
            </a:endParaRPr>
          </a:p>
        </p:txBody>
      </p:sp>
      <p:pic>
        <p:nvPicPr>
          <p:cNvPr id="78" name="Google Shape;78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65550" y="1598725"/>
            <a:ext cx="4328749" cy="456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83" name="Google Shape;83;p10"/>
          <p:cNvSpPr txBox="1"/>
          <p:nvPr>
            <p:ph type="title"/>
          </p:nvPr>
        </p:nvSpPr>
        <p:spPr>
          <a:xfrm>
            <a:off x="1470438" y="114177"/>
            <a:ext cx="8095851" cy="8975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45975">
            <a:spAutoFit/>
          </a:bodyPr>
          <a:lstStyle/>
          <a:p>
            <a:pPr indent="0" lvl="0" marL="13474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FEASIBILITY AND VIABILITY</a:t>
            </a:r>
            <a:endParaRPr/>
          </a:p>
        </p:txBody>
      </p:sp>
      <p:sp>
        <p:nvSpPr>
          <p:cNvPr id="84" name="Google Shape;84;p10"/>
          <p:cNvSpPr txBox="1"/>
          <p:nvPr/>
        </p:nvSpPr>
        <p:spPr>
          <a:xfrm>
            <a:off x="878375" y="567950"/>
            <a:ext cx="9237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69215" lvl="0" marL="12700" marR="508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EDITH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5" name="Google Shape;8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48143" y="238574"/>
            <a:ext cx="2002005" cy="94855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0"/>
          <p:cNvSpPr txBox="1"/>
          <p:nvPr>
            <p:ph idx="11" type="ftr"/>
          </p:nvPr>
        </p:nvSpPr>
        <p:spPr>
          <a:xfrm>
            <a:off x="5325384" y="6399265"/>
            <a:ext cx="1850390" cy="2514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19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@SIH Idea submission- Template</a:t>
            </a:r>
            <a:endParaRPr/>
          </a:p>
        </p:txBody>
      </p:sp>
      <p:sp>
        <p:nvSpPr>
          <p:cNvPr id="87" name="Google Shape;87;p10"/>
          <p:cNvSpPr txBox="1"/>
          <p:nvPr>
            <p:ph idx="12" type="sldNum"/>
          </p:nvPr>
        </p:nvSpPr>
        <p:spPr>
          <a:xfrm>
            <a:off x="11380241" y="6399265"/>
            <a:ext cx="167640" cy="2514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190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8" name="Google Shape;88;p10"/>
          <p:cNvSpPr txBox="1"/>
          <p:nvPr/>
        </p:nvSpPr>
        <p:spPr>
          <a:xfrm>
            <a:off x="250225" y="1187125"/>
            <a:ext cx="4520700" cy="5082000"/>
          </a:xfrm>
          <a:prstGeom prst="rect">
            <a:avLst/>
          </a:prstGeom>
          <a:noFill/>
          <a:ln cap="flat" cmpd="sng" w="9525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solidFill>
                  <a:schemeClr val="dk1"/>
                </a:solidFill>
              </a:rPr>
              <a:t> Technical Feasibility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solidFill>
                  <a:schemeClr val="dk1"/>
                </a:solidFill>
              </a:rPr>
              <a:t>Public datasets: CIC-IDS-2018 &amp; CTU-13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solidFill>
                  <a:schemeClr val="dk1"/>
                </a:solidFill>
              </a:rPr>
              <a:t>Proven sequence models: LSTM/Transformer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solidFill>
                  <a:schemeClr val="dk1"/>
                </a:solidFill>
              </a:rPr>
              <a:t>Open-source tools: Python, PyTorch, Scapy/PyShark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chemeClr val="dk1"/>
                </a:solidFill>
              </a:rPr>
              <a:t> </a:t>
            </a:r>
            <a:r>
              <a:rPr b="1" lang="en-US" sz="1500">
                <a:solidFill>
                  <a:schemeClr val="dk1"/>
                </a:solidFill>
              </a:rPr>
              <a:t>Financial Feasibility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solidFill>
                  <a:schemeClr val="dk1"/>
                </a:solidFill>
              </a:rPr>
              <a:t>Open-source tools and datasets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solidFill>
                  <a:schemeClr val="dk1"/>
                </a:solidFill>
              </a:rPr>
              <a:t>No proprietary APIs or cloud dependency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solidFill>
                  <a:schemeClr val="dk1"/>
                </a:solidFill>
              </a:rPr>
              <a:t>Low-cost offline prototype</a:t>
            </a:r>
            <a:br>
              <a:rPr lang="en-US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solidFill>
                  <a:schemeClr val="dk1"/>
                </a:solidFill>
              </a:rPr>
              <a:t>Operational Feasibility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solidFill>
                  <a:schemeClr val="dk1"/>
                </a:solidFill>
              </a:rPr>
              <a:t>Works with network traffic and telemetry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solidFill>
                  <a:schemeClr val="dk1"/>
                </a:solidFill>
              </a:rPr>
              <a:t>MITRE ATT&amp;CK provides standardized attack mapping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solidFill>
                  <a:schemeClr val="dk1"/>
                </a:solidFill>
              </a:rPr>
              <a:t>Streamlit dashboard enables easy analyst interpretation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89" name="Google Shape;89;p10"/>
          <p:cNvSpPr txBox="1"/>
          <p:nvPr/>
        </p:nvSpPr>
        <p:spPr>
          <a:xfrm>
            <a:off x="4980250" y="1187125"/>
            <a:ext cx="6969900" cy="2612700"/>
          </a:xfrm>
          <a:prstGeom prst="rect">
            <a:avLst/>
          </a:prstGeom>
          <a:noFill/>
          <a:ln cap="flat" cmpd="sng" w="9525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</a:rPr>
              <a:t>                                   CHALLENGES</a:t>
            </a:r>
            <a:br>
              <a:rPr b="1" lang="en-US" sz="2000">
                <a:solidFill>
                  <a:schemeClr val="dk1"/>
                </a:solidFill>
              </a:rPr>
            </a:br>
            <a:r>
              <a:rPr b="1" lang="en-US" sz="1300">
                <a:solidFill>
                  <a:schemeClr val="dk1"/>
                </a:solidFill>
              </a:rPr>
              <a:t> Prediction Uncertainty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1300">
                <a:solidFill>
                  <a:schemeClr val="dk1"/>
                </a:solidFill>
              </a:rPr>
              <a:t>Attackers may change or skip stages, causing incorrect forecasts and false alerts.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Real-Time Performance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1300">
                <a:solidFill>
                  <a:schemeClr val="dk1"/>
                </a:solidFill>
              </a:rPr>
              <a:t>High-volume telemetry creates latency and processing challenges.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 Evolving Attack Patterns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1300">
                <a:solidFill>
                  <a:schemeClr val="dk1"/>
                </a:solidFill>
              </a:rPr>
              <a:t>Historical datasets may not fully represent novel real-world attacks.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500">
                <a:solidFill>
                  <a:schemeClr val="dk1"/>
                </a:solidFill>
              </a:rPr>
            </a:br>
            <a:br>
              <a:rPr lang="en-US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</p:txBody>
      </p:sp>
      <p:sp>
        <p:nvSpPr>
          <p:cNvPr id="90" name="Google Shape;90;p10"/>
          <p:cNvSpPr txBox="1"/>
          <p:nvPr/>
        </p:nvSpPr>
        <p:spPr>
          <a:xfrm>
            <a:off x="4980250" y="3971400"/>
            <a:ext cx="6969900" cy="2297700"/>
          </a:xfrm>
          <a:prstGeom prst="rect">
            <a:avLst/>
          </a:prstGeom>
          <a:noFill/>
          <a:ln cap="flat" cmpd="sng" w="9525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</a:rPr>
              <a:t>                                    </a:t>
            </a:r>
            <a:r>
              <a:rPr b="1" lang="en-US" sz="1500">
                <a:solidFill>
                  <a:schemeClr val="dk1"/>
                </a:solidFill>
              </a:rPr>
              <a:t> </a:t>
            </a:r>
            <a:r>
              <a:rPr b="1" lang="en-US" sz="2000">
                <a:solidFill>
                  <a:schemeClr val="dk1"/>
                </a:solidFill>
              </a:rPr>
              <a:t>SOLUTIONS</a:t>
            </a:r>
            <a:br>
              <a:rPr b="1" lang="en-US" sz="2000">
                <a:solidFill>
                  <a:schemeClr val="dk1"/>
                </a:solidFill>
              </a:rPr>
            </a:br>
            <a:r>
              <a:rPr b="1" lang="en-US" sz="1300">
                <a:solidFill>
                  <a:schemeClr val="dk1"/>
                </a:solidFill>
              </a:rPr>
              <a:t>Adaptive Forecasting</a:t>
            </a:r>
            <a:br>
              <a:rPr b="1" lang="en-US" sz="1300">
                <a:solidFill>
                  <a:schemeClr val="dk1"/>
                </a:solidFill>
              </a:rPr>
            </a:br>
            <a:r>
              <a:rPr lang="en-US" sz="1300">
                <a:solidFill>
                  <a:schemeClr val="dk1"/>
                </a:solidFill>
              </a:rPr>
              <a:t>Sequence-based World Model + confidence scoring + dynamic thresholds to manage uncertainty.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</a:rPr>
              <a:t>Efficient Pipeline </a:t>
            </a:r>
            <a:br>
              <a:rPr b="1" lang="en-US" sz="1300">
                <a:solidFill>
                  <a:schemeClr val="dk1"/>
                </a:solidFill>
              </a:rPr>
            </a:br>
            <a:r>
              <a:rPr lang="en-US" sz="1300">
                <a:solidFill>
                  <a:schemeClr val="dk1"/>
                </a:solidFill>
              </a:rPr>
              <a:t>Sliding-window processing + lightweight inference for continuous low-latency forecasting.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</a:rPr>
              <a:t>Continuous Adaptation</a:t>
            </a:r>
            <a:br>
              <a:rPr b="1" lang="en-US" sz="1300">
                <a:solidFill>
                  <a:schemeClr val="dk1"/>
                </a:solidFill>
              </a:rPr>
            </a:br>
            <a:r>
              <a:rPr lang="en-US" sz="1300">
                <a:solidFill>
                  <a:schemeClr val="dk1"/>
                </a:solidFill>
              </a:rPr>
              <a:t>Periodic retraining + multi-dataset validation + MITRE mapping to handle evolving threats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</p:txBody>
      </p:sp>
      <p:sp>
        <p:nvSpPr>
          <p:cNvPr id="91" name="Google Shape;91;p10"/>
          <p:cNvSpPr/>
          <p:nvPr/>
        </p:nvSpPr>
        <p:spPr>
          <a:xfrm>
            <a:off x="250215" y="309308"/>
            <a:ext cx="2081530" cy="807085"/>
          </a:xfrm>
          <a:custGeom>
            <a:rect b="b" l="l" r="r" t="t"/>
            <a:pathLst>
              <a:path extrusionOk="0" h="807085" w="2081530">
                <a:moveTo>
                  <a:pt x="0" y="403542"/>
                </a:moveTo>
                <a:lnTo>
                  <a:pt x="8109" y="352922"/>
                </a:lnTo>
                <a:lnTo>
                  <a:pt x="31785" y="304179"/>
                </a:lnTo>
                <a:lnTo>
                  <a:pt x="70055" y="257691"/>
                </a:lnTo>
                <a:lnTo>
                  <a:pt x="121941" y="213835"/>
                </a:lnTo>
                <a:lnTo>
                  <a:pt x="186470" y="172989"/>
                </a:lnTo>
                <a:lnTo>
                  <a:pt x="223170" y="153814"/>
                </a:lnTo>
                <a:lnTo>
                  <a:pt x="262665" y="135533"/>
                </a:lnTo>
                <a:lnTo>
                  <a:pt x="304833" y="118194"/>
                </a:lnTo>
                <a:lnTo>
                  <a:pt x="349551" y="101844"/>
                </a:lnTo>
                <a:lnTo>
                  <a:pt x="396699" y="86531"/>
                </a:lnTo>
                <a:lnTo>
                  <a:pt x="446153" y="72301"/>
                </a:lnTo>
                <a:lnTo>
                  <a:pt x="497793" y="59202"/>
                </a:lnTo>
                <a:lnTo>
                  <a:pt x="551496" y="47281"/>
                </a:lnTo>
                <a:lnTo>
                  <a:pt x="607140" y="36585"/>
                </a:lnTo>
                <a:lnTo>
                  <a:pt x="664603" y="27163"/>
                </a:lnTo>
                <a:lnTo>
                  <a:pt x="723764" y="19060"/>
                </a:lnTo>
                <a:lnTo>
                  <a:pt x="784501" y="12324"/>
                </a:lnTo>
                <a:lnTo>
                  <a:pt x="846691" y="7003"/>
                </a:lnTo>
                <a:lnTo>
                  <a:pt x="910213" y="3144"/>
                </a:lnTo>
                <a:lnTo>
                  <a:pt x="974945" y="793"/>
                </a:lnTo>
                <a:lnTo>
                  <a:pt x="1040764" y="0"/>
                </a:lnTo>
                <a:lnTo>
                  <a:pt x="1106584" y="793"/>
                </a:lnTo>
                <a:lnTo>
                  <a:pt x="1171316" y="3144"/>
                </a:lnTo>
                <a:lnTo>
                  <a:pt x="1234838" y="7003"/>
                </a:lnTo>
                <a:lnTo>
                  <a:pt x="1297028" y="12324"/>
                </a:lnTo>
                <a:lnTo>
                  <a:pt x="1357765" y="19060"/>
                </a:lnTo>
                <a:lnTo>
                  <a:pt x="1416926" y="27163"/>
                </a:lnTo>
                <a:lnTo>
                  <a:pt x="1474389" y="36585"/>
                </a:lnTo>
                <a:lnTo>
                  <a:pt x="1530033" y="47281"/>
                </a:lnTo>
                <a:lnTo>
                  <a:pt x="1583736" y="59202"/>
                </a:lnTo>
                <a:lnTo>
                  <a:pt x="1635376" y="72301"/>
                </a:lnTo>
                <a:lnTo>
                  <a:pt x="1684831" y="86531"/>
                </a:lnTo>
                <a:lnTo>
                  <a:pt x="1731978" y="101844"/>
                </a:lnTo>
                <a:lnTo>
                  <a:pt x="1776697" y="118194"/>
                </a:lnTo>
                <a:lnTo>
                  <a:pt x="1818864" y="135533"/>
                </a:lnTo>
                <a:lnTo>
                  <a:pt x="1858359" y="153814"/>
                </a:lnTo>
                <a:lnTo>
                  <a:pt x="1895059" y="172989"/>
                </a:lnTo>
                <a:lnTo>
                  <a:pt x="1928843" y="193012"/>
                </a:lnTo>
                <a:lnTo>
                  <a:pt x="1987172" y="235410"/>
                </a:lnTo>
                <a:lnTo>
                  <a:pt x="2032372" y="280630"/>
                </a:lnTo>
                <a:lnTo>
                  <a:pt x="2063467" y="328293"/>
                </a:lnTo>
                <a:lnTo>
                  <a:pt x="2079482" y="378021"/>
                </a:lnTo>
                <a:lnTo>
                  <a:pt x="2081529" y="403542"/>
                </a:lnTo>
                <a:lnTo>
                  <a:pt x="2079482" y="429063"/>
                </a:lnTo>
                <a:lnTo>
                  <a:pt x="2063467" y="478791"/>
                </a:lnTo>
                <a:lnTo>
                  <a:pt x="2032372" y="526454"/>
                </a:lnTo>
                <a:lnTo>
                  <a:pt x="1987172" y="571674"/>
                </a:lnTo>
                <a:lnTo>
                  <a:pt x="1928843" y="614072"/>
                </a:lnTo>
                <a:lnTo>
                  <a:pt x="1895059" y="634095"/>
                </a:lnTo>
                <a:lnTo>
                  <a:pt x="1858359" y="653270"/>
                </a:lnTo>
                <a:lnTo>
                  <a:pt x="1818864" y="671551"/>
                </a:lnTo>
                <a:lnTo>
                  <a:pt x="1776697" y="688890"/>
                </a:lnTo>
                <a:lnTo>
                  <a:pt x="1731978" y="705240"/>
                </a:lnTo>
                <a:lnTo>
                  <a:pt x="1684831" y="720553"/>
                </a:lnTo>
                <a:lnTo>
                  <a:pt x="1635376" y="734783"/>
                </a:lnTo>
                <a:lnTo>
                  <a:pt x="1583736" y="747882"/>
                </a:lnTo>
                <a:lnTo>
                  <a:pt x="1530033" y="759803"/>
                </a:lnTo>
                <a:lnTo>
                  <a:pt x="1474389" y="770499"/>
                </a:lnTo>
                <a:lnTo>
                  <a:pt x="1416926" y="779921"/>
                </a:lnTo>
                <a:lnTo>
                  <a:pt x="1357765" y="788024"/>
                </a:lnTo>
                <a:lnTo>
                  <a:pt x="1297028" y="794760"/>
                </a:lnTo>
                <a:lnTo>
                  <a:pt x="1234838" y="800081"/>
                </a:lnTo>
                <a:lnTo>
                  <a:pt x="1171316" y="803940"/>
                </a:lnTo>
                <a:lnTo>
                  <a:pt x="1106584" y="806291"/>
                </a:lnTo>
                <a:lnTo>
                  <a:pt x="1040764" y="807084"/>
                </a:lnTo>
                <a:lnTo>
                  <a:pt x="974945" y="806291"/>
                </a:lnTo>
                <a:lnTo>
                  <a:pt x="910213" y="803940"/>
                </a:lnTo>
                <a:lnTo>
                  <a:pt x="846691" y="800081"/>
                </a:lnTo>
                <a:lnTo>
                  <a:pt x="784501" y="794760"/>
                </a:lnTo>
                <a:lnTo>
                  <a:pt x="723764" y="788024"/>
                </a:lnTo>
                <a:lnTo>
                  <a:pt x="664603" y="779921"/>
                </a:lnTo>
                <a:lnTo>
                  <a:pt x="607140" y="770499"/>
                </a:lnTo>
                <a:lnTo>
                  <a:pt x="551496" y="759803"/>
                </a:lnTo>
                <a:lnTo>
                  <a:pt x="497793" y="747882"/>
                </a:lnTo>
                <a:lnTo>
                  <a:pt x="446153" y="734783"/>
                </a:lnTo>
                <a:lnTo>
                  <a:pt x="396699" y="720553"/>
                </a:lnTo>
                <a:lnTo>
                  <a:pt x="349551" y="705240"/>
                </a:lnTo>
                <a:lnTo>
                  <a:pt x="304833" y="688890"/>
                </a:lnTo>
                <a:lnTo>
                  <a:pt x="262665" y="671551"/>
                </a:lnTo>
                <a:lnTo>
                  <a:pt x="223170" y="653270"/>
                </a:lnTo>
                <a:lnTo>
                  <a:pt x="186470" y="634095"/>
                </a:lnTo>
                <a:lnTo>
                  <a:pt x="152686" y="614072"/>
                </a:lnTo>
                <a:lnTo>
                  <a:pt x="94357" y="571674"/>
                </a:lnTo>
                <a:lnTo>
                  <a:pt x="49157" y="526454"/>
                </a:lnTo>
                <a:lnTo>
                  <a:pt x="18062" y="478791"/>
                </a:lnTo>
                <a:lnTo>
                  <a:pt x="2047" y="429063"/>
                </a:lnTo>
                <a:lnTo>
                  <a:pt x="0" y="403542"/>
                </a:lnTo>
                <a:close/>
              </a:path>
            </a:pathLst>
          </a:custGeom>
          <a:noFill/>
          <a:ln cap="flat" cmpd="sng" w="25375">
            <a:solidFill>
              <a:srgbClr val="8064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96" name="Google Shape;96;p11"/>
          <p:cNvSpPr txBox="1"/>
          <p:nvPr>
            <p:ph type="title"/>
          </p:nvPr>
        </p:nvSpPr>
        <p:spPr>
          <a:xfrm>
            <a:off x="1470438" y="114177"/>
            <a:ext cx="8095851" cy="8975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7075">
            <a:spAutoFit/>
          </a:bodyPr>
          <a:lstStyle/>
          <a:p>
            <a:pPr indent="0" lvl="0" marL="19913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IMPACT AND BENEFITS</a:t>
            </a:r>
            <a:endParaRPr/>
          </a:p>
        </p:txBody>
      </p:sp>
      <p:sp>
        <p:nvSpPr>
          <p:cNvPr id="97" name="Google Shape;97;p11"/>
          <p:cNvSpPr txBox="1"/>
          <p:nvPr/>
        </p:nvSpPr>
        <p:spPr>
          <a:xfrm>
            <a:off x="1046661" y="588313"/>
            <a:ext cx="9522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69215" lvl="0" marL="12700" marR="508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  EDITH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89993" y="-1"/>
            <a:ext cx="2002005" cy="94855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1"/>
          <p:cNvSpPr txBox="1"/>
          <p:nvPr>
            <p:ph idx="11" type="ftr"/>
          </p:nvPr>
        </p:nvSpPr>
        <p:spPr>
          <a:xfrm>
            <a:off x="5325384" y="6399265"/>
            <a:ext cx="1850390" cy="2514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19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@SIH Idea submission- Template</a:t>
            </a:r>
            <a:endParaRPr/>
          </a:p>
        </p:txBody>
      </p:sp>
      <p:sp>
        <p:nvSpPr>
          <p:cNvPr id="100" name="Google Shape;100;p11"/>
          <p:cNvSpPr txBox="1"/>
          <p:nvPr>
            <p:ph idx="12" type="sldNum"/>
          </p:nvPr>
        </p:nvSpPr>
        <p:spPr>
          <a:xfrm>
            <a:off x="11380241" y="6399265"/>
            <a:ext cx="167640" cy="2514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190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1" name="Google Shape;101;p11"/>
          <p:cNvSpPr txBox="1"/>
          <p:nvPr/>
        </p:nvSpPr>
        <p:spPr>
          <a:xfrm>
            <a:off x="0" y="948550"/>
            <a:ext cx="12192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02" name="Google Shape;102;p11"/>
          <p:cNvSpPr txBox="1"/>
          <p:nvPr/>
        </p:nvSpPr>
        <p:spPr>
          <a:xfrm>
            <a:off x="149375" y="3347725"/>
            <a:ext cx="56706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</a:rPr>
              <a:t>Potential Impact on Target Audience: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</a:rPr>
              <a:t> </a:t>
            </a:r>
            <a:r>
              <a:rPr b="1" lang="en-US">
                <a:solidFill>
                  <a:schemeClr val="dk1"/>
                </a:solidFill>
              </a:rPr>
              <a:t>Security Teams::</a:t>
            </a:r>
            <a:endParaRPr b="1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-US" sz="1200">
                <a:solidFill>
                  <a:schemeClr val="dk1"/>
                </a:solidFill>
              </a:rPr>
              <a:t>Earlier Warning:</a:t>
            </a:r>
            <a:r>
              <a:rPr lang="en-US" sz="1200">
                <a:solidFill>
                  <a:schemeClr val="dk1"/>
                </a:solidFill>
              </a:rPr>
              <a:t> Forecasts likely attack progression before the next stage.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-US" sz="1200">
                <a:solidFill>
                  <a:schemeClr val="dk1"/>
                </a:solidFill>
              </a:rPr>
              <a:t>Alert Prioritization:</a:t>
            </a:r>
            <a:r>
              <a:rPr lang="en-US" sz="1200">
                <a:solidFill>
                  <a:schemeClr val="dk1"/>
                </a:solidFill>
              </a:rPr>
              <a:t> Ranks threats using progression risk and confidence.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</a:rPr>
              <a:t> Organizations:</a:t>
            </a:r>
            <a:endParaRPr b="1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-US" sz="1200">
                <a:solidFill>
                  <a:schemeClr val="dk1"/>
                </a:solidFill>
              </a:rPr>
              <a:t>Proactive Response:</a:t>
            </a:r>
            <a:r>
              <a:rPr lang="en-US" sz="1200">
                <a:solidFill>
                  <a:schemeClr val="dk1"/>
                </a:solidFill>
              </a:rPr>
              <a:t> Gives teams time to investigate before escalation.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-US" sz="1200">
                <a:solidFill>
                  <a:schemeClr val="dk1"/>
                </a:solidFill>
              </a:rPr>
              <a:t>Threat Visibility:</a:t>
            </a:r>
            <a:r>
              <a:rPr lang="en-US" sz="1200">
                <a:solidFill>
                  <a:schemeClr val="dk1"/>
                </a:solidFill>
              </a:rPr>
              <a:t> Tracks how suspicious network behaviour evolves.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</a:rPr>
              <a:t>Critical Infrastructure:</a:t>
            </a:r>
            <a:endParaRPr b="1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-US" sz="1200">
                <a:solidFill>
                  <a:schemeClr val="dk1"/>
                </a:solidFill>
              </a:rPr>
              <a:t>Early Attack Indication:</a:t>
            </a:r>
            <a:r>
              <a:rPr lang="en-US" sz="1200">
                <a:solidFill>
                  <a:schemeClr val="dk1"/>
                </a:solidFill>
              </a:rPr>
              <a:t> Highlights likely progression toward subsequent stages.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-US" sz="1200">
                <a:solidFill>
                  <a:schemeClr val="dk1"/>
                </a:solidFill>
              </a:rPr>
              <a:t>Offline Deployment:</a:t>
            </a:r>
            <a:r>
              <a:rPr lang="en-US" sz="1200">
                <a:solidFill>
                  <a:schemeClr val="dk1"/>
                </a:solidFill>
              </a:rPr>
              <a:t> Supports environments without external cloud/API dependencies.</a:t>
            </a:r>
            <a:endParaRPr b="1" sz="1700"/>
          </a:p>
        </p:txBody>
      </p:sp>
      <p:sp>
        <p:nvSpPr>
          <p:cNvPr id="103" name="Google Shape;103;p11"/>
          <p:cNvSpPr/>
          <p:nvPr/>
        </p:nvSpPr>
        <p:spPr>
          <a:xfrm>
            <a:off x="481978" y="329683"/>
            <a:ext cx="2081530" cy="807085"/>
          </a:xfrm>
          <a:custGeom>
            <a:rect b="b" l="l" r="r" t="t"/>
            <a:pathLst>
              <a:path extrusionOk="0" h="807085" w="2081530">
                <a:moveTo>
                  <a:pt x="0" y="403542"/>
                </a:moveTo>
                <a:lnTo>
                  <a:pt x="8109" y="352922"/>
                </a:lnTo>
                <a:lnTo>
                  <a:pt x="31785" y="304179"/>
                </a:lnTo>
                <a:lnTo>
                  <a:pt x="70055" y="257691"/>
                </a:lnTo>
                <a:lnTo>
                  <a:pt x="121941" y="213835"/>
                </a:lnTo>
                <a:lnTo>
                  <a:pt x="186470" y="172989"/>
                </a:lnTo>
                <a:lnTo>
                  <a:pt x="223170" y="153814"/>
                </a:lnTo>
                <a:lnTo>
                  <a:pt x="262665" y="135533"/>
                </a:lnTo>
                <a:lnTo>
                  <a:pt x="304833" y="118194"/>
                </a:lnTo>
                <a:lnTo>
                  <a:pt x="349551" y="101844"/>
                </a:lnTo>
                <a:lnTo>
                  <a:pt x="396699" y="86531"/>
                </a:lnTo>
                <a:lnTo>
                  <a:pt x="446153" y="72301"/>
                </a:lnTo>
                <a:lnTo>
                  <a:pt x="497793" y="59202"/>
                </a:lnTo>
                <a:lnTo>
                  <a:pt x="551496" y="47281"/>
                </a:lnTo>
                <a:lnTo>
                  <a:pt x="607140" y="36585"/>
                </a:lnTo>
                <a:lnTo>
                  <a:pt x="664603" y="27163"/>
                </a:lnTo>
                <a:lnTo>
                  <a:pt x="723764" y="19060"/>
                </a:lnTo>
                <a:lnTo>
                  <a:pt x="784501" y="12324"/>
                </a:lnTo>
                <a:lnTo>
                  <a:pt x="846691" y="7003"/>
                </a:lnTo>
                <a:lnTo>
                  <a:pt x="910213" y="3144"/>
                </a:lnTo>
                <a:lnTo>
                  <a:pt x="974945" y="793"/>
                </a:lnTo>
                <a:lnTo>
                  <a:pt x="1040764" y="0"/>
                </a:lnTo>
                <a:lnTo>
                  <a:pt x="1106584" y="793"/>
                </a:lnTo>
                <a:lnTo>
                  <a:pt x="1171316" y="3144"/>
                </a:lnTo>
                <a:lnTo>
                  <a:pt x="1234838" y="7003"/>
                </a:lnTo>
                <a:lnTo>
                  <a:pt x="1297028" y="12324"/>
                </a:lnTo>
                <a:lnTo>
                  <a:pt x="1357765" y="19060"/>
                </a:lnTo>
                <a:lnTo>
                  <a:pt x="1416926" y="27163"/>
                </a:lnTo>
                <a:lnTo>
                  <a:pt x="1474389" y="36585"/>
                </a:lnTo>
                <a:lnTo>
                  <a:pt x="1530033" y="47281"/>
                </a:lnTo>
                <a:lnTo>
                  <a:pt x="1583736" y="59202"/>
                </a:lnTo>
                <a:lnTo>
                  <a:pt x="1635376" y="72301"/>
                </a:lnTo>
                <a:lnTo>
                  <a:pt x="1684831" y="86531"/>
                </a:lnTo>
                <a:lnTo>
                  <a:pt x="1731978" y="101844"/>
                </a:lnTo>
                <a:lnTo>
                  <a:pt x="1776697" y="118194"/>
                </a:lnTo>
                <a:lnTo>
                  <a:pt x="1818864" y="135533"/>
                </a:lnTo>
                <a:lnTo>
                  <a:pt x="1858359" y="153814"/>
                </a:lnTo>
                <a:lnTo>
                  <a:pt x="1895059" y="172989"/>
                </a:lnTo>
                <a:lnTo>
                  <a:pt x="1928843" y="193012"/>
                </a:lnTo>
                <a:lnTo>
                  <a:pt x="1987172" y="235410"/>
                </a:lnTo>
                <a:lnTo>
                  <a:pt x="2032372" y="280630"/>
                </a:lnTo>
                <a:lnTo>
                  <a:pt x="2063467" y="328293"/>
                </a:lnTo>
                <a:lnTo>
                  <a:pt x="2079482" y="378021"/>
                </a:lnTo>
                <a:lnTo>
                  <a:pt x="2081529" y="403542"/>
                </a:lnTo>
                <a:lnTo>
                  <a:pt x="2079482" y="429063"/>
                </a:lnTo>
                <a:lnTo>
                  <a:pt x="2063467" y="478791"/>
                </a:lnTo>
                <a:lnTo>
                  <a:pt x="2032372" y="526454"/>
                </a:lnTo>
                <a:lnTo>
                  <a:pt x="1987172" y="571674"/>
                </a:lnTo>
                <a:lnTo>
                  <a:pt x="1928843" y="614072"/>
                </a:lnTo>
                <a:lnTo>
                  <a:pt x="1895059" y="634095"/>
                </a:lnTo>
                <a:lnTo>
                  <a:pt x="1858359" y="653270"/>
                </a:lnTo>
                <a:lnTo>
                  <a:pt x="1818864" y="671551"/>
                </a:lnTo>
                <a:lnTo>
                  <a:pt x="1776697" y="688890"/>
                </a:lnTo>
                <a:lnTo>
                  <a:pt x="1731978" y="705240"/>
                </a:lnTo>
                <a:lnTo>
                  <a:pt x="1684831" y="720553"/>
                </a:lnTo>
                <a:lnTo>
                  <a:pt x="1635376" y="734783"/>
                </a:lnTo>
                <a:lnTo>
                  <a:pt x="1583736" y="747882"/>
                </a:lnTo>
                <a:lnTo>
                  <a:pt x="1530033" y="759803"/>
                </a:lnTo>
                <a:lnTo>
                  <a:pt x="1474389" y="770499"/>
                </a:lnTo>
                <a:lnTo>
                  <a:pt x="1416926" y="779921"/>
                </a:lnTo>
                <a:lnTo>
                  <a:pt x="1357765" y="788024"/>
                </a:lnTo>
                <a:lnTo>
                  <a:pt x="1297028" y="794760"/>
                </a:lnTo>
                <a:lnTo>
                  <a:pt x="1234838" y="800081"/>
                </a:lnTo>
                <a:lnTo>
                  <a:pt x="1171316" y="803940"/>
                </a:lnTo>
                <a:lnTo>
                  <a:pt x="1106584" y="806291"/>
                </a:lnTo>
                <a:lnTo>
                  <a:pt x="1040764" y="807084"/>
                </a:lnTo>
                <a:lnTo>
                  <a:pt x="974945" y="806291"/>
                </a:lnTo>
                <a:lnTo>
                  <a:pt x="910213" y="803940"/>
                </a:lnTo>
                <a:lnTo>
                  <a:pt x="846691" y="800081"/>
                </a:lnTo>
                <a:lnTo>
                  <a:pt x="784501" y="794760"/>
                </a:lnTo>
                <a:lnTo>
                  <a:pt x="723764" y="788024"/>
                </a:lnTo>
                <a:lnTo>
                  <a:pt x="664603" y="779921"/>
                </a:lnTo>
                <a:lnTo>
                  <a:pt x="607140" y="770499"/>
                </a:lnTo>
                <a:lnTo>
                  <a:pt x="551496" y="759803"/>
                </a:lnTo>
                <a:lnTo>
                  <a:pt x="497793" y="747882"/>
                </a:lnTo>
                <a:lnTo>
                  <a:pt x="446153" y="734783"/>
                </a:lnTo>
                <a:lnTo>
                  <a:pt x="396699" y="720553"/>
                </a:lnTo>
                <a:lnTo>
                  <a:pt x="349551" y="705240"/>
                </a:lnTo>
                <a:lnTo>
                  <a:pt x="304833" y="688890"/>
                </a:lnTo>
                <a:lnTo>
                  <a:pt x="262665" y="671551"/>
                </a:lnTo>
                <a:lnTo>
                  <a:pt x="223170" y="653270"/>
                </a:lnTo>
                <a:lnTo>
                  <a:pt x="186470" y="634095"/>
                </a:lnTo>
                <a:lnTo>
                  <a:pt x="152686" y="614072"/>
                </a:lnTo>
                <a:lnTo>
                  <a:pt x="94357" y="571674"/>
                </a:lnTo>
                <a:lnTo>
                  <a:pt x="49157" y="526454"/>
                </a:lnTo>
                <a:lnTo>
                  <a:pt x="18062" y="478791"/>
                </a:lnTo>
                <a:lnTo>
                  <a:pt x="2047" y="429063"/>
                </a:lnTo>
                <a:lnTo>
                  <a:pt x="0" y="403542"/>
                </a:lnTo>
                <a:close/>
              </a:path>
            </a:pathLst>
          </a:custGeom>
          <a:noFill/>
          <a:ln cap="flat" cmpd="sng" w="25375">
            <a:solidFill>
              <a:srgbClr val="8064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4" name="Google Shape;104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61450" y="1731074"/>
            <a:ext cx="5819974" cy="3455351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1"/>
          <p:cNvSpPr txBox="1"/>
          <p:nvPr/>
        </p:nvSpPr>
        <p:spPr>
          <a:xfrm>
            <a:off x="238325" y="1315813"/>
            <a:ext cx="47280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/>
              <a:t>Benefits of the Solution:</a:t>
            </a:r>
            <a:endParaRPr b="1"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-US" sz="1500"/>
              <a:t>Social:</a:t>
            </a:r>
            <a:r>
              <a:rPr lang="en-US" sz="1500"/>
              <a:t> Improves protection of user data and trust in digital services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-US" sz="1500"/>
              <a:t>Economic:</a:t>
            </a:r>
            <a:r>
              <a:rPr lang="en-US" sz="1500"/>
              <a:t> Reduces financial losses and manual effort in threat monitoring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-US" sz="1500"/>
              <a:t>Technological:</a:t>
            </a:r>
            <a:r>
              <a:rPr lang="en-US" sz="1500"/>
              <a:t> Shifts security from reactive to forecast-assisted, with explainable predictions</a:t>
            </a:r>
            <a:endParaRPr sz="1500"/>
          </a:p>
        </p:txBody>
      </p:sp>
      <p:sp>
        <p:nvSpPr>
          <p:cNvPr id="106" name="Google Shape;106;p11"/>
          <p:cNvSpPr/>
          <p:nvPr/>
        </p:nvSpPr>
        <p:spPr>
          <a:xfrm>
            <a:off x="77675" y="1226363"/>
            <a:ext cx="5670600" cy="20319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1"/>
          <p:cNvSpPr/>
          <p:nvPr/>
        </p:nvSpPr>
        <p:spPr>
          <a:xfrm>
            <a:off x="77675" y="3347850"/>
            <a:ext cx="5670600" cy="28932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112" name="Google Shape;112;p12"/>
          <p:cNvSpPr txBox="1"/>
          <p:nvPr>
            <p:ph type="title"/>
          </p:nvPr>
        </p:nvSpPr>
        <p:spPr>
          <a:xfrm>
            <a:off x="2500275" y="294175"/>
            <a:ext cx="7123800" cy="6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707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RESEARCH AND REFERENCES</a:t>
            </a:r>
            <a:endParaRPr/>
          </a:p>
        </p:txBody>
      </p:sp>
      <p:sp>
        <p:nvSpPr>
          <p:cNvPr id="113" name="Google Shape;113;p12"/>
          <p:cNvSpPr txBox="1"/>
          <p:nvPr/>
        </p:nvSpPr>
        <p:spPr>
          <a:xfrm>
            <a:off x="2226250" y="1094275"/>
            <a:ext cx="7812600" cy="51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b="1" lang="en-US" sz="1500">
                <a:solidFill>
                  <a:schemeClr val="dk1"/>
                </a:solidFill>
              </a:rPr>
              <a:t>World Models &amp; Predictive AI</a:t>
            </a:r>
            <a:br>
              <a:rPr b="1" lang="en-US" sz="1500">
                <a:solidFill>
                  <a:schemeClr val="dk1"/>
                </a:solidFill>
              </a:rPr>
            </a:br>
            <a:r>
              <a:rPr lang="en-US" sz="1500">
                <a:solidFill>
                  <a:schemeClr val="dk1"/>
                </a:solidFill>
              </a:rPr>
              <a:t>   ○ </a:t>
            </a:r>
            <a:r>
              <a:rPr lang="en-US" sz="1500" u="sng">
                <a:solidFill>
                  <a:schemeClr val="hlink"/>
                </a:solidFill>
                <a:hlinkClick r:id="rId3"/>
              </a:rPr>
              <a:t>Recurrent World Models Facilitate Policy Evolution (NeurIPS, 2018)</a:t>
            </a:r>
            <a:br>
              <a:rPr lang="en-US" sz="1500" u="sng">
                <a:solidFill>
                  <a:schemeClr val="hlink"/>
                </a:solidFill>
                <a:hlinkClick r:id="rId4"/>
              </a:rPr>
            </a:br>
            <a:r>
              <a:rPr lang="en-US" sz="1500">
                <a:solidFill>
                  <a:schemeClr val="dk1"/>
                </a:solidFill>
              </a:rPr>
              <a:t>   ○</a:t>
            </a:r>
            <a:r>
              <a:rPr lang="en-US" sz="1500" u="sng">
                <a:solidFill>
                  <a:schemeClr val="hlink"/>
                </a:solidFill>
                <a:hlinkClick r:id="rId5"/>
              </a:rPr>
              <a:t> KillChainGraph: ML Framework for ATT&amp;CK Prediction (arXiv, 2025)</a:t>
            </a:r>
            <a:br>
              <a:rPr lang="en-US" sz="1500">
                <a:solidFill>
                  <a:schemeClr val="dk1"/>
                </a:solidFill>
              </a:rPr>
            </a:br>
            <a:r>
              <a:rPr lang="en-US" sz="1500">
                <a:solidFill>
                  <a:schemeClr val="dk1"/>
                </a:solidFill>
              </a:rPr>
              <a:t>   ○ </a:t>
            </a:r>
            <a:r>
              <a:rPr lang="en-US" sz="1500" u="sng">
                <a:solidFill>
                  <a:schemeClr val="hlink"/>
                </a:solidFill>
                <a:hlinkClick r:id="rId6"/>
              </a:rPr>
              <a:t>Learning the APT Kill Chain: Attack Stage Estimation (arXiv, 2026)</a:t>
            </a:r>
            <a:endParaRPr sz="15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b="1" lang="en-US" sz="1500">
                <a:solidFill>
                  <a:schemeClr val="dk1"/>
                </a:solidFill>
              </a:rPr>
              <a:t>Sequence Modeling for Network Traffic</a:t>
            </a:r>
            <a:br>
              <a:rPr b="1" lang="en-US" sz="1500">
                <a:solidFill>
                  <a:schemeClr val="dk1"/>
                </a:solidFill>
              </a:rPr>
            </a:br>
            <a:r>
              <a:rPr lang="en-US" sz="1500">
                <a:solidFill>
                  <a:schemeClr val="dk1"/>
                </a:solidFill>
              </a:rPr>
              <a:t>   ○ </a:t>
            </a:r>
            <a:r>
              <a:rPr lang="en-US" sz="1500" u="sng">
                <a:solidFill>
                  <a:schemeClr val="hlink"/>
                </a:solidFill>
                <a:hlinkClick r:id="rId7"/>
              </a:rPr>
              <a:t>On the Evaluation of Sequential ML for NIDS (ARES, 2021)</a:t>
            </a:r>
            <a:br>
              <a:rPr lang="en-US" sz="1500" u="sng">
                <a:solidFill>
                  <a:schemeClr val="hlink"/>
                </a:solidFill>
                <a:hlinkClick r:id="rId8"/>
              </a:rPr>
            </a:br>
            <a:r>
              <a:rPr lang="en-US" sz="1500">
                <a:solidFill>
                  <a:schemeClr val="dk1"/>
                </a:solidFill>
              </a:rPr>
              <a:t>   ○ </a:t>
            </a:r>
            <a:r>
              <a:rPr lang="en-US" sz="1500" u="sng">
                <a:solidFill>
                  <a:schemeClr val="hlink"/>
                </a:solidFill>
                <a:hlinkClick r:id="rId9"/>
              </a:rPr>
              <a:t>Transformers in Time Series: A Survey (arXiv, 2022)</a:t>
            </a:r>
            <a:br>
              <a:rPr lang="en-US" sz="1500">
                <a:solidFill>
                  <a:schemeClr val="dk1"/>
                </a:solidFill>
              </a:rPr>
            </a:br>
            <a:r>
              <a:rPr lang="en-US" sz="1500">
                <a:solidFill>
                  <a:schemeClr val="dk1"/>
                </a:solidFill>
              </a:rPr>
              <a:t>   ○ </a:t>
            </a:r>
            <a:r>
              <a:rPr lang="en-US" sz="1500" u="sng">
                <a:solidFill>
                  <a:schemeClr val="hlink"/>
                </a:solidFill>
                <a:hlinkClick r:id="rId10"/>
              </a:rPr>
              <a:t>E-GraphSAGE: GNN-based Intrusion Detection (IEEE NOMS, 2022)</a:t>
            </a:r>
            <a:endParaRPr sz="15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b="1" lang="en-US" sz="1500">
                <a:solidFill>
                  <a:schemeClr val="dk1"/>
                </a:solidFill>
              </a:rPr>
              <a:t>Explainable AI</a:t>
            </a:r>
            <a:br>
              <a:rPr b="1" lang="en-US" sz="1500">
                <a:solidFill>
                  <a:schemeClr val="dk1"/>
                </a:solidFill>
              </a:rPr>
            </a:br>
            <a:r>
              <a:rPr lang="en-US" sz="1500">
                <a:solidFill>
                  <a:schemeClr val="dk1"/>
                </a:solidFill>
              </a:rPr>
              <a:t>   ○ </a:t>
            </a:r>
            <a:r>
              <a:rPr lang="en-US" sz="1500" u="sng">
                <a:solidFill>
                  <a:schemeClr val="hlink"/>
                </a:solidFill>
                <a:hlinkClick r:id="rId11"/>
              </a:rPr>
              <a:t>A Unified Approach to Interpreting Model Predictions — SHAP (NeurIPS, 2017)</a:t>
            </a:r>
            <a:br>
              <a:rPr lang="en-US" sz="1500">
                <a:solidFill>
                  <a:schemeClr val="dk1"/>
                </a:solidFill>
              </a:rPr>
            </a:br>
            <a:r>
              <a:rPr lang="en-US" sz="1500">
                <a:solidFill>
                  <a:schemeClr val="dk1"/>
                </a:solidFill>
              </a:rPr>
              <a:t>   ○ </a:t>
            </a:r>
            <a:r>
              <a:rPr lang="en-US" sz="1500" u="sng">
                <a:solidFill>
                  <a:schemeClr val="hlink"/>
                </a:solidFill>
                <a:hlinkClick r:id="rId12"/>
              </a:rPr>
              <a:t>Graph Neural Networks for Intrusion Detection: A Survey (IEEE Access, 2023)</a:t>
            </a:r>
            <a:endParaRPr sz="15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b="1" lang="en-US" sz="1500">
                <a:solidFill>
                  <a:schemeClr val="dk1"/>
                </a:solidFill>
              </a:rPr>
              <a:t>Standards &amp; Knowledge Bases</a:t>
            </a:r>
            <a:br>
              <a:rPr b="1" lang="en-US" sz="1500">
                <a:solidFill>
                  <a:schemeClr val="dk1"/>
                </a:solidFill>
              </a:rPr>
            </a:br>
            <a:r>
              <a:rPr lang="en-US" sz="1500">
                <a:solidFill>
                  <a:schemeClr val="dk1"/>
                </a:solidFill>
              </a:rPr>
              <a:t>   ○ </a:t>
            </a:r>
            <a:r>
              <a:rPr lang="en-US" sz="1500" u="sng">
                <a:solidFill>
                  <a:schemeClr val="hlink"/>
                </a:solidFill>
                <a:hlinkClick r:id="rId13"/>
              </a:rPr>
              <a:t>MITRE ATT&amp;CK Framework</a:t>
            </a:r>
            <a:br>
              <a:rPr lang="en-US" sz="1500">
                <a:solidFill>
                  <a:schemeClr val="dk1"/>
                </a:solidFill>
              </a:rPr>
            </a:br>
            <a:r>
              <a:rPr lang="en-US" sz="1500">
                <a:solidFill>
                  <a:schemeClr val="dk1"/>
                </a:solidFill>
              </a:rPr>
              <a:t>   ○ </a:t>
            </a:r>
            <a:r>
              <a:rPr lang="en-US" sz="1500" u="sng">
                <a:solidFill>
                  <a:schemeClr val="hlink"/>
                </a:solidFill>
                <a:hlinkClick r:id="rId14"/>
              </a:rPr>
              <a:t>CAPEC — Common Attack Pattern Enumeration</a:t>
            </a:r>
            <a:br>
              <a:rPr lang="en-US" sz="1500">
                <a:solidFill>
                  <a:schemeClr val="dk1"/>
                </a:solidFill>
              </a:rPr>
            </a:br>
            <a:r>
              <a:rPr lang="en-US" sz="1500">
                <a:solidFill>
                  <a:schemeClr val="dk1"/>
                </a:solidFill>
              </a:rPr>
              <a:t>   ○ </a:t>
            </a:r>
            <a:r>
              <a:rPr lang="en-US" sz="1500" u="sng">
                <a:solidFill>
                  <a:schemeClr val="hlink"/>
                </a:solidFill>
                <a:hlinkClick r:id="rId15"/>
              </a:rPr>
              <a:t>CVE / NVD — National Vulnerability Database</a:t>
            </a:r>
            <a:endParaRPr b="1"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b="1" lang="en-US" sz="1500">
                <a:solidFill>
                  <a:schemeClr val="dk1"/>
                </a:solidFill>
              </a:rPr>
              <a:t>Datasets Referenced</a:t>
            </a:r>
            <a:br>
              <a:rPr b="1" lang="en-US" sz="1500">
                <a:solidFill>
                  <a:schemeClr val="dk1"/>
                </a:solidFill>
              </a:rPr>
            </a:br>
            <a:r>
              <a:rPr lang="en-US" sz="1500">
                <a:solidFill>
                  <a:schemeClr val="dk1"/>
                </a:solidFill>
              </a:rPr>
              <a:t>   ○ </a:t>
            </a:r>
            <a:r>
              <a:rPr lang="en-US" sz="1500" u="sng">
                <a:solidFill>
                  <a:schemeClr val="hlink"/>
                </a:solidFill>
                <a:hlinkClick r:id="rId16"/>
              </a:rPr>
              <a:t>CIC-IDS2017/2018 — Canadian Institute for Cybersecurity (UNB)</a:t>
            </a:r>
            <a:br>
              <a:rPr lang="en-US" sz="1500" u="sng">
                <a:solidFill>
                  <a:schemeClr val="hlink"/>
                </a:solidFill>
                <a:hlinkClick r:id="rId17"/>
              </a:rPr>
            </a:br>
            <a:r>
              <a:rPr lang="en-US" sz="1500">
                <a:solidFill>
                  <a:schemeClr val="dk1"/>
                </a:solidFill>
              </a:rPr>
              <a:t>   ○ </a:t>
            </a:r>
            <a:r>
              <a:rPr lang="en-US" sz="1500" u="sng">
                <a:solidFill>
                  <a:schemeClr val="hlink"/>
                </a:solidFill>
                <a:hlinkClick r:id="rId18"/>
              </a:rPr>
              <a:t>CTU-13 — Stratosphere IPS, CTU University</a:t>
            </a:r>
            <a:endParaRPr b="1" sz="1900">
              <a:solidFill>
                <a:schemeClr val="dk1"/>
              </a:solidFill>
            </a:endParaRPr>
          </a:p>
        </p:txBody>
      </p:sp>
      <p:sp>
        <p:nvSpPr>
          <p:cNvPr id="114" name="Google Shape;114;p12"/>
          <p:cNvSpPr txBox="1"/>
          <p:nvPr/>
        </p:nvSpPr>
        <p:spPr>
          <a:xfrm>
            <a:off x="800847" y="418025"/>
            <a:ext cx="6696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69215" lvl="0" marL="12700" marR="508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EDITH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5" name="Google Shape;115;p12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9948143" y="238574"/>
            <a:ext cx="2002005" cy="94855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2"/>
          <p:cNvSpPr txBox="1"/>
          <p:nvPr>
            <p:ph idx="11" type="ftr"/>
          </p:nvPr>
        </p:nvSpPr>
        <p:spPr>
          <a:xfrm>
            <a:off x="5325384" y="6399265"/>
            <a:ext cx="1850390" cy="2514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19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@SIH Idea submission- Template</a:t>
            </a:r>
            <a:endParaRPr/>
          </a:p>
        </p:txBody>
      </p:sp>
      <p:sp>
        <p:nvSpPr>
          <p:cNvPr id="117" name="Google Shape;117;p12"/>
          <p:cNvSpPr txBox="1"/>
          <p:nvPr>
            <p:ph idx="12" type="sldNum"/>
          </p:nvPr>
        </p:nvSpPr>
        <p:spPr>
          <a:xfrm>
            <a:off x="11380241" y="6399265"/>
            <a:ext cx="167640" cy="2514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190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8" name="Google Shape;118;p12"/>
          <p:cNvSpPr txBox="1"/>
          <p:nvPr/>
        </p:nvSpPr>
        <p:spPr>
          <a:xfrm>
            <a:off x="6534025" y="4294025"/>
            <a:ext cx="5846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2"/>
          <p:cNvSpPr/>
          <p:nvPr/>
        </p:nvSpPr>
        <p:spPr>
          <a:xfrm>
            <a:off x="144715" y="159382"/>
            <a:ext cx="2081530" cy="807085"/>
          </a:xfrm>
          <a:custGeom>
            <a:rect b="b" l="l" r="r" t="t"/>
            <a:pathLst>
              <a:path extrusionOk="0" h="807085" w="2081530">
                <a:moveTo>
                  <a:pt x="0" y="403542"/>
                </a:moveTo>
                <a:lnTo>
                  <a:pt x="8109" y="352922"/>
                </a:lnTo>
                <a:lnTo>
                  <a:pt x="31785" y="304179"/>
                </a:lnTo>
                <a:lnTo>
                  <a:pt x="70055" y="257691"/>
                </a:lnTo>
                <a:lnTo>
                  <a:pt x="121941" y="213835"/>
                </a:lnTo>
                <a:lnTo>
                  <a:pt x="186470" y="172989"/>
                </a:lnTo>
                <a:lnTo>
                  <a:pt x="223170" y="153814"/>
                </a:lnTo>
                <a:lnTo>
                  <a:pt x="262665" y="135533"/>
                </a:lnTo>
                <a:lnTo>
                  <a:pt x="304833" y="118194"/>
                </a:lnTo>
                <a:lnTo>
                  <a:pt x="349551" y="101844"/>
                </a:lnTo>
                <a:lnTo>
                  <a:pt x="396699" y="86531"/>
                </a:lnTo>
                <a:lnTo>
                  <a:pt x="446153" y="72301"/>
                </a:lnTo>
                <a:lnTo>
                  <a:pt x="497793" y="59202"/>
                </a:lnTo>
                <a:lnTo>
                  <a:pt x="551496" y="47281"/>
                </a:lnTo>
                <a:lnTo>
                  <a:pt x="607140" y="36585"/>
                </a:lnTo>
                <a:lnTo>
                  <a:pt x="664603" y="27163"/>
                </a:lnTo>
                <a:lnTo>
                  <a:pt x="723764" y="19060"/>
                </a:lnTo>
                <a:lnTo>
                  <a:pt x="784501" y="12324"/>
                </a:lnTo>
                <a:lnTo>
                  <a:pt x="846691" y="7003"/>
                </a:lnTo>
                <a:lnTo>
                  <a:pt x="910213" y="3144"/>
                </a:lnTo>
                <a:lnTo>
                  <a:pt x="974945" y="793"/>
                </a:lnTo>
                <a:lnTo>
                  <a:pt x="1040764" y="0"/>
                </a:lnTo>
                <a:lnTo>
                  <a:pt x="1106584" y="793"/>
                </a:lnTo>
                <a:lnTo>
                  <a:pt x="1171316" y="3144"/>
                </a:lnTo>
                <a:lnTo>
                  <a:pt x="1234838" y="7003"/>
                </a:lnTo>
                <a:lnTo>
                  <a:pt x="1297028" y="12324"/>
                </a:lnTo>
                <a:lnTo>
                  <a:pt x="1357765" y="19060"/>
                </a:lnTo>
                <a:lnTo>
                  <a:pt x="1416926" y="27163"/>
                </a:lnTo>
                <a:lnTo>
                  <a:pt x="1474389" y="36585"/>
                </a:lnTo>
                <a:lnTo>
                  <a:pt x="1530033" y="47281"/>
                </a:lnTo>
                <a:lnTo>
                  <a:pt x="1583736" y="59202"/>
                </a:lnTo>
                <a:lnTo>
                  <a:pt x="1635376" y="72301"/>
                </a:lnTo>
                <a:lnTo>
                  <a:pt x="1684831" y="86531"/>
                </a:lnTo>
                <a:lnTo>
                  <a:pt x="1731978" y="101844"/>
                </a:lnTo>
                <a:lnTo>
                  <a:pt x="1776697" y="118194"/>
                </a:lnTo>
                <a:lnTo>
                  <a:pt x="1818864" y="135533"/>
                </a:lnTo>
                <a:lnTo>
                  <a:pt x="1858359" y="153814"/>
                </a:lnTo>
                <a:lnTo>
                  <a:pt x="1895059" y="172989"/>
                </a:lnTo>
                <a:lnTo>
                  <a:pt x="1928843" y="193012"/>
                </a:lnTo>
                <a:lnTo>
                  <a:pt x="1987172" y="235410"/>
                </a:lnTo>
                <a:lnTo>
                  <a:pt x="2032372" y="280630"/>
                </a:lnTo>
                <a:lnTo>
                  <a:pt x="2063467" y="328293"/>
                </a:lnTo>
                <a:lnTo>
                  <a:pt x="2079482" y="378021"/>
                </a:lnTo>
                <a:lnTo>
                  <a:pt x="2081529" y="403542"/>
                </a:lnTo>
                <a:lnTo>
                  <a:pt x="2079482" y="429063"/>
                </a:lnTo>
                <a:lnTo>
                  <a:pt x="2063467" y="478791"/>
                </a:lnTo>
                <a:lnTo>
                  <a:pt x="2032372" y="526454"/>
                </a:lnTo>
                <a:lnTo>
                  <a:pt x="1987172" y="571674"/>
                </a:lnTo>
                <a:lnTo>
                  <a:pt x="1928843" y="614072"/>
                </a:lnTo>
                <a:lnTo>
                  <a:pt x="1895059" y="634095"/>
                </a:lnTo>
                <a:lnTo>
                  <a:pt x="1858359" y="653270"/>
                </a:lnTo>
                <a:lnTo>
                  <a:pt x="1818864" y="671551"/>
                </a:lnTo>
                <a:lnTo>
                  <a:pt x="1776697" y="688890"/>
                </a:lnTo>
                <a:lnTo>
                  <a:pt x="1731978" y="705240"/>
                </a:lnTo>
                <a:lnTo>
                  <a:pt x="1684831" y="720553"/>
                </a:lnTo>
                <a:lnTo>
                  <a:pt x="1635376" y="734783"/>
                </a:lnTo>
                <a:lnTo>
                  <a:pt x="1583736" y="747882"/>
                </a:lnTo>
                <a:lnTo>
                  <a:pt x="1530033" y="759803"/>
                </a:lnTo>
                <a:lnTo>
                  <a:pt x="1474389" y="770499"/>
                </a:lnTo>
                <a:lnTo>
                  <a:pt x="1416926" y="779921"/>
                </a:lnTo>
                <a:lnTo>
                  <a:pt x="1357765" y="788024"/>
                </a:lnTo>
                <a:lnTo>
                  <a:pt x="1297028" y="794760"/>
                </a:lnTo>
                <a:lnTo>
                  <a:pt x="1234838" y="800081"/>
                </a:lnTo>
                <a:lnTo>
                  <a:pt x="1171316" y="803940"/>
                </a:lnTo>
                <a:lnTo>
                  <a:pt x="1106584" y="806291"/>
                </a:lnTo>
                <a:lnTo>
                  <a:pt x="1040764" y="807084"/>
                </a:lnTo>
                <a:lnTo>
                  <a:pt x="974945" y="806291"/>
                </a:lnTo>
                <a:lnTo>
                  <a:pt x="910213" y="803940"/>
                </a:lnTo>
                <a:lnTo>
                  <a:pt x="846691" y="800081"/>
                </a:lnTo>
                <a:lnTo>
                  <a:pt x="784501" y="794760"/>
                </a:lnTo>
                <a:lnTo>
                  <a:pt x="723764" y="788024"/>
                </a:lnTo>
                <a:lnTo>
                  <a:pt x="664603" y="779921"/>
                </a:lnTo>
                <a:lnTo>
                  <a:pt x="607140" y="770499"/>
                </a:lnTo>
                <a:lnTo>
                  <a:pt x="551496" y="759803"/>
                </a:lnTo>
                <a:lnTo>
                  <a:pt x="497793" y="747882"/>
                </a:lnTo>
                <a:lnTo>
                  <a:pt x="446153" y="734783"/>
                </a:lnTo>
                <a:lnTo>
                  <a:pt x="396699" y="720553"/>
                </a:lnTo>
                <a:lnTo>
                  <a:pt x="349551" y="705240"/>
                </a:lnTo>
                <a:lnTo>
                  <a:pt x="304833" y="688890"/>
                </a:lnTo>
                <a:lnTo>
                  <a:pt x="262665" y="671551"/>
                </a:lnTo>
                <a:lnTo>
                  <a:pt x="223170" y="653270"/>
                </a:lnTo>
                <a:lnTo>
                  <a:pt x="186470" y="634095"/>
                </a:lnTo>
                <a:lnTo>
                  <a:pt x="152686" y="614072"/>
                </a:lnTo>
                <a:lnTo>
                  <a:pt x="94357" y="571674"/>
                </a:lnTo>
                <a:lnTo>
                  <a:pt x="49157" y="526454"/>
                </a:lnTo>
                <a:lnTo>
                  <a:pt x="18062" y="478791"/>
                </a:lnTo>
                <a:lnTo>
                  <a:pt x="2047" y="429063"/>
                </a:lnTo>
                <a:lnTo>
                  <a:pt x="0" y="403542"/>
                </a:lnTo>
                <a:close/>
              </a:path>
            </a:pathLst>
          </a:custGeom>
          <a:noFill/>
          <a:ln cap="flat" cmpd="sng" w="25375">
            <a:solidFill>
              <a:srgbClr val="8064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